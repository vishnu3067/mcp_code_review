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88952" cy="164592"/>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058400" cy="1097280"/>
          </a:xfrm>
          <a:prstGeom prst="rect">
            <a:avLst/>
          </a:prstGeom>
          <a:noFill/>
        </p:spPr>
        <p:txBody>
          <a:bodyPr wrap="square">
            <a:spAutoFit/>
          </a:bodyPr>
          <a:lstStyle/>
          <a:p>
            <a:pPr algn="l"/>
            <a:r>
              <a:rPr sz="5200" b="1" i="0">
                <a:solidFill>
                  <a:srgbClr val="FFFFFF"/>
                </a:solidFill>
                <a:latin typeface="Calibri"/>
              </a:rPr>
              <a:t>ABAP AI Assistant</a:t>
            </a:r>
          </a:p>
        </p:txBody>
      </p:sp>
      <p:sp>
        <p:nvSpPr>
          <p:cNvPr id="5" name="TextBox 4"/>
          <p:cNvSpPr txBox="1"/>
          <p:nvPr/>
        </p:nvSpPr>
        <p:spPr>
          <a:xfrm>
            <a:off x="914400" y="2468880"/>
            <a:ext cx="10058400" cy="548640"/>
          </a:xfrm>
          <a:prstGeom prst="rect">
            <a:avLst/>
          </a:prstGeom>
          <a:noFill/>
        </p:spPr>
        <p:txBody>
          <a:bodyPr wrap="square">
            <a:spAutoFit/>
          </a:bodyPr>
          <a:lstStyle/>
          <a:p>
            <a:pPr algn="l"/>
            <a:r>
              <a:rPr sz="2200" b="0" i="0">
                <a:solidFill>
                  <a:srgbClr val="FBBF00"/>
                </a:solidFill>
                <a:latin typeface="Calibri"/>
              </a:rPr>
              <a:t>Connecting Eclipse Copilot to Our SAP Systems via MCP</a:t>
            </a:r>
          </a:p>
        </p:txBody>
      </p:sp>
      <p:sp>
        <p:nvSpPr>
          <p:cNvPr id="6" name="TextBox 5"/>
          <p:cNvSpPr txBox="1"/>
          <p:nvPr/>
        </p:nvSpPr>
        <p:spPr>
          <a:xfrm>
            <a:off x="914400" y="3108960"/>
            <a:ext cx="9601200" cy="822960"/>
          </a:xfrm>
          <a:prstGeom prst="rect">
            <a:avLst/>
          </a:prstGeom>
          <a:noFill/>
        </p:spPr>
        <p:txBody>
          <a:bodyPr wrap="square">
            <a:spAutoFit/>
          </a:bodyPr>
          <a:lstStyle/>
          <a:p>
            <a:pPr algn="l"/>
            <a:r>
              <a:rPr sz="1600" b="0" i="0">
                <a:solidFill>
                  <a:srgbClr val="CCD3DC"/>
                </a:solidFill>
                <a:latin typeface="Calibri"/>
              </a:rPr>
              <a:t>A read-only, secure, AI-assisted developer productivity platform
built entirely on trusted open-source components.</a:t>
            </a:r>
          </a:p>
        </p:txBody>
      </p:sp>
      <p:sp>
        <p:nvSpPr>
          <p:cNvPr id="7" name="TextBox 6"/>
          <p:cNvSpPr txBox="1"/>
          <p:nvPr/>
        </p:nvSpPr>
        <p:spPr>
          <a:xfrm>
            <a:off x="914400" y="5669280"/>
            <a:ext cx="8229600" cy="457200"/>
          </a:xfrm>
          <a:prstGeom prst="rect">
            <a:avLst/>
          </a:prstGeom>
          <a:noFill/>
        </p:spPr>
        <p:txBody>
          <a:bodyPr wrap="square">
            <a:spAutoFit/>
          </a:bodyPr>
          <a:lstStyle/>
          <a:p>
            <a:pPr algn="l"/>
            <a:r>
              <a:rPr sz="1300" b="0" i="1">
                <a:solidFill>
                  <a:srgbClr val="CCD3DC"/>
                </a:solidFill>
                <a:latin typeface="Calibri"/>
              </a:rPr>
              <a:t>Presented by: Vishnu Divvela  |  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What Is This?</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A purpose-built AI assistant for ABAP developers</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2 / 11</a:t>
            </a:r>
          </a:p>
        </p:txBody>
      </p:sp>
      <p:sp>
        <p:nvSpPr>
          <p:cNvPr id="10" name="TextBox 9"/>
          <p:cNvSpPr txBox="1"/>
          <p:nvPr/>
        </p:nvSpPr>
        <p:spPr>
          <a:xfrm>
            <a:off x="457200" y="1188720"/>
            <a:ext cx="11430000" cy="1280160"/>
          </a:xfrm>
          <a:prstGeom prst="rect">
            <a:avLst/>
          </a:prstGeom>
          <a:noFill/>
        </p:spPr>
        <p:txBody>
          <a:bodyPr wrap="square">
            <a:spAutoFit/>
          </a:bodyPr>
          <a:lstStyle/>
          <a:p>
            <a:pPr algn="l">
              <a:lnSpc>
                <a:spcPts val="2200"/>
              </a:lnSpc>
            </a:pPr>
            <a:r>
              <a:rPr sz="1600" b="1">
                <a:solidFill>
                  <a:srgbClr val="333333"/>
                </a:solidFill>
                <a:latin typeface="Calibri"/>
              </a:rPr>
              <a:t>GitHub Copilot (Claude Sonnet) is already available in our Eclipse IDE.</a:t>
            </a:r>
          </a:p>
          <a:p>
            <a:pPr algn="l">
              <a:lnSpc>
                <a:spcPts val="2200"/>
              </a:lnSpc>
            </a:pPr>
            <a:r>
              <a:rPr sz="1600" b="0">
                <a:solidFill>
                  <a:srgbClr val="333333"/>
                </a:solidFill>
                <a:latin typeface="Calibri"/>
              </a:rPr>
              <a:t>Today, developers can manually paste an ABAP object into Copilot and ask questions — this is already permitted and widely used.</a:t>
            </a:r>
          </a:p>
          <a:p>
            <a:pPr algn="l">
              <a:lnSpc>
                <a:spcPts val="2200"/>
              </a:lnSpc>
            </a:pPr>
            <a:r>
              <a:rPr sz="1600" b="0">
                <a:solidFill>
                  <a:srgbClr val="333333"/>
                </a:solidFill>
                <a:latin typeface="Calibri"/>
              </a:rPr>
              <a:t>This project takes that one step further:</a:t>
            </a:r>
          </a:p>
        </p:txBody>
      </p:sp>
      <p:sp>
        <p:nvSpPr>
          <p:cNvPr id="11" name="Rectangle 10"/>
          <p:cNvSpPr/>
          <p:nvPr/>
        </p:nvSpPr>
        <p:spPr>
          <a:xfrm>
            <a:off x="365760" y="2926080"/>
            <a:ext cx="2103120" cy="137160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00400"/>
            <a:ext cx="1920239" cy="1005840"/>
          </a:xfrm>
          <a:prstGeom prst="rect">
            <a:avLst/>
          </a:prstGeom>
          <a:noFill/>
        </p:spPr>
        <p:txBody>
          <a:bodyPr wrap="square">
            <a:spAutoFit/>
          </a:bodyPr>
          <a:lstStyle/>
          <a:p>
            <a:pPr algn="ctr"/>
            <a:r>
              <a:rPr sz="1300" b="1" i="0">
                <a:solidFill>
                  <a:srgbClr val="FFFFFF"/>
                </a:solidFill>
                <a:latin typeface="Calibri"/>
              </a:rPr>
              <a:t>Eclipse
Copilot</a:t>
            </a:r>
          </a:p>
        </p:txBody>
      </p:sp>
      <p:sp>
        <p:nvSpPr>
          <p:cNvPr id="13" name="Rectangle 12"/>
          <p:cNvSpPr/>
          <p:nvPr/>
        </p:nvSpPr>
        <p:spPr>
          <a:xfrm>
            <a:off x="3017520" y="2926080"/>
            <a:ext cx="2286000" cy="137160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3200400"/>
            <a:ext cx="2103120" cy="1005840"/>
          </a:xfrm>
          <a:prstGeom prst="rect">
            <a:avLst/>
          </a:prstGeom>
          <a:noFill/>
        </p:spPr>
        <p:txBody>
          <a:bodyPr wrap="square">
            <a:spAutoFit/>
          </a:bodyPr>
          <a:lstStyle/>
          <a:p>
            <a:pPr algn="ctr"/>
            <a:r>
              <a:rPr sz="1300" b="1" i="0">
                <a:solidFill>
                  <a:srgbClr val="FFFFFF"/>
                </a:solidFill>
                <a:latin typeface="Calibri"/>
              </a:rPr>
              <a:t>MCP Server
(Python)</a:t>
            </a:r>
          </a:p>
        </p:txBody>
      </p:sp>
      <p:sp>
        <p:nvSpPr>
          <p:cNvPr id="15" name="Rectangle 14"/>
          <p:cNvSpPr/>
          <p:nvPr/>
        </p:nvSpPr>
        <p:spPr>
          <a:xfrm>
            <a:off x="5943600" y="2926080"/>
            <a:ext cx="2286000" cy="137160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3200400"/>
            <a:ext cx="2103120" cy="1005840"/>
          </a:xfrm>
          <a:prstGeom prst="rect">
            <a:avLst/>
          </a:prstGeom>
          <a:noFill/>
        </p:spPr>
        <p:txBody>
          <a:bodyPr wrap="square">
            <a:spAutoFit/>
          </a:bodyPr>
          <a:lstStyle/>
          <a:p>
            <a:pPr algn="ctr"/>
            <a:r>
              <a:rPr sz="1300" b="1" i="0">
                <a:solidFill>
                  <a:srgbClr val="FFFFFF"/>
                </a:solidFill>
                <a:latin typeface="Calibri"/>
              </a:rPr>
              <a:t>SAP ADT
REST API</a:t>
            </a:r>
          </a:p>
        </p:txBody>
      </p:sp>
      <p:sp>
        <p:nvSpPr>
          <p:cNvPr id="17" name="Rectangle 16"/>
          <p:cNvSpPr/>
          <p:nvPr/>
        </p:nvSpPr>
        <p:spPr>
          <a:xfrm>
            <a:off x="8869680" y="2926080"/>
            <a:ext cx="2926080" cy="137160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19" y="3200400"/>
            <a:ext cx="2743200" cy="1005840"/>
          </a:xfrm>
          <a:prstGeom prst="rect">
            <a:avLst/>
          </a:prstGeom>
          <a:noFill/>
        </p:spPr>
        <p:txBody>
          <a:bodyPr wrap="square">
            <a:spAutoFit/>
          </a:bodyPr>
          <a:lstStyle/>
          <a:p>
            <a:pPr algn="ctr"/>
            <a:r>
              <a:rPr sz="1300" b="1" i="0">
                <a:solidFill>
                  <a:srgbClr val="FFFFFF"/>
                </a:solidFill>
                <a:latin typeface="Calibri"/>
              </a:rPr>
              <a:t>SAP ABAP
System (D59/K59)</a:t>
            </a:r>
          </a:p>
        </p:txBody>
      </p:sp>
      <p:sp>
        <p:nvSpPr>
          <p:cNvPr id="19" name="TextBox 18"/>
          <p:cNvSpPr txBox="1"/>
          <p:nvPr/>
        </p:nvSpPr>
        <p:spPr>
          <a:xfrm>
            <a:off x="2514600" y="3291840"/>
            <a:ext cx="457200" cy="548640"/>
          </a:xfrm>
          <a:prstGeom prst="rect">
            <a:avLst/>
          </a:prstGeom>
          <a:noFill/>
        </p:spPr>
        <p:txBody>
          <a:bodyPr wrap="square">
            <a:spAutoFit/>
          </a:bodyPr>
          <a:lstStyle/>
          <a:p>
            <a:pPr algn="ctr"/>
            <a:r>
              <a:rPr sz="2400" b="1" i="0">
                <a:solidFill>
                  <a:srgbClr val="00275A"/>
                </a:solidFill>
                <a:latin typeface="Calibri"/>
              </a:rPr>
              <a:t>→</a:t>
            </a:r>
          </a:p>
        </p:txBody>
      </p:sp>
      <p:sp>
        <p:nvSpPr>
          <p:cNvPr id="20" name="TextBox 19"/>
          <p:cNvSpPr txBox="1"/>
          <p:nvPr/>
        </p:nvSpPr>
        <p:spPr>
          <a:xfrm>
            <a:off x="5394960" y="3291840"/>
            <a:ext cx="457200" cy="548640"/>
          </a:xfrm>
          <a:prstGeom prst="rect">
            <a:avLst/>
          </a:prstGeom>
          <a:noFill/>
        </p:spPr>
        <p:txBody>
          <a:bodyPr wrap="square">
            <a:spAutoFit/>
          </a:bodyPr>
          <a:lstStyle/>
          <a:p>
            <a:pPr algn="ctr"/>
            <a:r>
              <a:rPr sz="2400" b="1" i="0">
                <a:solidFill>
                  <a:srgbClr val="00275A"/>
                </a:solidFill>
                <a:latin typeface="Calibri"/>
              </a:rPr>
              <a:t>→</a:t>
            </a:r>
          </a:p>
        </p:txBody>
      </p:sp>
      <p:sp>
        <p:nvSpPr>
          <p:cNvPr id="21" name="TextBox 20"/>
          <p:cNvSpPr txBox="1"/>
          <p:nvPr/>
        </p:nvSpPr>
        <p:spPr>
          <a:xfrm>
            <a:off x="8321040" y="3291840"/>
            <a:ext cx="457200" cy="548640"/>
          </a:xfrm>
          <a:prstGeom prst="rect">
            <a:avLst/>
          </a:prstGeom>
          <a:noFill/>
        </p:spPr>
        <p:txBody>
          <a:bodyPr wrap="square">
            <a:spAutoFit/>
          </a:bodyPr>
          <a:lstStyle/>
          <a:p>
            <a:pPr algn="ctr"/>
            <a:r>
              <a:rPr sz="2400" b="1" i="0">
                <a:solidFill>
                  <a:srgbClr val="00275A"/>
                </a:solidFill>
                <a:latin typeface="Calibri"/>
              </a:rPr>
              <a:t>→</a:t>
            </a:r>
          </a:p>
        </p:txBody>
      </p:sp>
      <p:sp>
        <p:nvSpPr>
          <p:cNvPr id="22" name="TextBox 21"/>
          <p:cNvSpPr txBox="1"/>
          <p:nvPr/>
        </p:nvSpPr>
        <p:spPr>
          <a:xfrm>
            <a:off x="457200" y="4572000"/>
            <a:ext cx="11247120" cy="548640"/>
          </a:xfrm>
          <a:prstGeom prst="rect">
            <a:avLst/>
          </a:prstGeom>
          <a:noFill/>
        </p:spPr>
        <p:txBody>
          <a:bodyPr wrap="square">
            <a:spAutoFit/>
          </a:bodyPr>
          <a:lstStyle/>
          <a:p>
            <a:pPr algn="ctr"/>
            <a:r>
              <a:rPr sz="1500" b="0" i="1">
                <a:solidFill>
                  <a:srgbClr val="00275A"/>
                </a:solidFill>
                <a:latin typeface="Calibri"/>
              </a:rPr>
              <a:t>Copilot automatically fetches live ABAP artifacts from the system — developer just asks a question in plain English.</a:t>
            </a:r>
          </a:p>
        </p:txBody>
      </p:sp>
      <p:sp>
        <p:nvSpPr>
          <p:cNvPr id="23" name="TextBox 22"/>
          <p:cNvSpPr txBox="1"/>
          <p:nvPr/>
        </p:nvSpPr>
        <p:spPr>
          <a:xfrm>
            <a:off x="457200" y="5257800"/>
            <a:ext cx="11247120" cy="457200"/>
          </a:xfrm>
          <a:prstGeom prst="rect">
            <a:avLst/>
          </a:prstGeom>
          <a:noFill/>
        </p:spPr>
        <p:txBody>
          <a:bodyPr wrap="square">
            <a:spAutoFit/>
          </a:bodyPr>
          <a:lstStyle/>
          <a:p>
            <a:pPr algn="ctr"/>
            <a:r>
              <a:rPr sz="1400" b="1" i="0">
                <a:solidFill>
                  <a:srgbClr val="1A7A4A"/>
                </a:solidFill>
                <a:latin typeface="Calibri"/>
              </a:rPr>
              <a:t>READ-ONLY  |  NO DATA STORED  |  NO CREDENTIALS SHARED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Security Architecture</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How data flows — and what never leaves the boundary</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3 / 11</a:t>
            </a:r>
          </a:p>
        </p:txBody>
      </p:sp>
      <p:sp>
        <p:nvSpPr>
          <p:cNvPr id="10" name="Rectangle 9"/>
          <p:cNvSpPr/>
          <p:nvPr/>
        </p:nvSpPr>
        <p:spPr>
          <a:xfrm>
            <a:off x="365760" y="1234440"/>
            <a:ext cx="5669280" cy="2240280"/>
          </a:xfrm>
          <a:prstGeom prst="rect">
            <a:avLst/>
          </a:prstGeom>
          <a:solidFill>
            <a:srgbClr val="FFFFFF"/>
          </a:solidFill>
          <a:ln w="1016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5669280"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325880"/>
            <a:ext cx="5394960" cy="384048"/>
          </a:xfrm>
          <a:prstGeom prst="rect">
            <a:avLst/>
          </a:prstGeom>
          <a:noFill/>
        </p:spPr>
        <p:txBody>
          <a:bodyPr wrap="square">
            <a:spAutoFit/>
          </a:bodyPr>
          <a:lstStyle/>
          <a:p>
            <a:pPr algn="l"/>
            <a:r>
              <a:rPr sz="1300" b="1" i="0">
                <a:solidFill>
                  <a:srgbClr val="00275A"/>
                </a:solidFill>
                <a:latin typeface="Calibri"/>
              </a:rPr>
              <a:t>🔐  Windows SSPI / Kerberos Authentication</a:t>
            </a:r>
          </a:p>
        </p:txBody>
      </p:sp>
      <p:sp>
        <p:nvSpPr>
          <p:cNvPr id="13" name="TextBox 12"/>
          <p:cNvSpPr txBox="1"/>
          <p:nvPr/>
        </p:nvSpPr>
        <p:spPr>
          <a:xfrm>
            <a:off x="502920" y="1737360"/>
            <a:ext cx="5394960" cy="1627632"/>
          </a:xfrm>
          <a:prstGeom prst="rect">
            <a:avLst/>
          </a:prstGeom>
          <a:noFill/>
        </p:spPr>
        <p:txBody>
          <a:bodyPr wrap="square">
            <a:spAutoFit/>
          </a:bodyPr>
          <a:lstStyle/>
          <a:p>
            <a:pPr algn="l"/>
            <a:r>
              <a:rPr sz="1100" b="0" i="0">
                <a:solidFill>
                  <a:srgbClr val="333333"/>
                </a:solidFill>
                <a:latin typeface="Calibri"/>
              </a:rPr>
              <a:t>No username or password is passed anywhere. The MCP server uses your existing Windows domain session (the same credential that opens Eclipse). SAP ADT validates the Kerberos ticket — no extra login, no stored credentials.</a:t>
            </a:r>
          </a:p>
        </p:txBody>
      </p:sp>
      <p:sp>
        <p:nvSpPr>
          <p:cNvPr id="14" name="Rectangle 13"/>
          <p:cNvSpPr/>
          <p:nvPr/>
        </p:nvSpPr>
        <p:spPr>
          <a:xfrm>
            <a:off x="6355080" y="1234440"/>
            <a:ext cx="5669280" cy="2240280"/>
          </a:xfrm>
          <a:prstGeom prst="rect">
            <a:avLst/>
          </a:prstGeom>
          <a:solidFill>
            <a:srgbClr val="FFFFFF"/>
          </a:solidFill>
          <a:ln w="1016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1234440"/>
            <a:ext cx="5669280"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325880"/>
            <a:ext cx="5394960" cy="384048"/>
          </a:xfrm>
          <a:prstGeom prst="rect">
            <a:avLst/>
          </a:prstGeom>
          <a:noFill/>
        </p:spPr>
        <p:txBody>
          <a:bodyPr wrap="square">
            <a:spAutoFit/>
          </a:bodyPr>
          <a:lstStyle/>
          <a:p>
            <a:pPr algn="l"/>
            <a:r>
              <a:rPr sz="1300" b="1" i="0">
                <a:solidFill>
                  <a:srgbClr val="00275A"/>
                </a:solidFill>
                <a:latin typeface="Calibri"/>
              </a:rPr>
              <a:t>🏢  Runs Entirely On Your Machine</a:t>
            </a:r>
          </a:p>
        </p:txBody>
      </p:sp>
      <p:sp>
        <p:nvSpPr>
          <p:cNvPr id="17" name="TextBox 16"/>
          <p:cNvSpPr txBox="1"/>
          <p:nvPr/>
        </p:nvSpPr>
        <p:spPr>
          <a:xfrm>
            <a:off x="6492240" y="1737360"/>
            <a:ext cx="5394960" cy="1627632"/>
          </a:xfrm>
          <a:prstGeom prst="rect">
            <a:avLst/>
          </a:prstGeom>
          <a:noFill/>
        </p:spPr>
        <p:txBody>
          <a:bodyPr wrap="square">
            <a:spAutoFit/>
          </a:bodyPr>
          <a:lstStyle/>
          <a:p>
            <a:pPr algn="l"/>
            <a:r>
              <a:rPr sz="1100" b="0" i="0">
                <a:solidFill>
                  <a:srgbClr val="333333"/>
                </a:solidFill>
                <a:latin typeface="Calibri"/>
              </a:rPr>
              <a:t>The Python MCP server runs locally on the developer's corporate laptop. It is never deployed to any cloud or external server. All traffic stays within the Shell corporate network.</a:t>
            </a:r>
          </a:p>
        </p:txBody>
      </p:sp>
      <p:sp>
        <p:nvSpPr>
          <p:cNvPr id="18" name="Rectangle 17"/>
          <p:cNvSpPr/>
          <p:nvPr/>
        </p:nvSpPr>
        <p:spPr>
          <a:xfrm>
            <a:off x="365760" y="3657600"/>
            <a:ext cx="5669280" cy="2240280"/>
          </a:xfrm>
          <a:prstGeom prst="rect">
            <a:avLst/>
          </a:prstGeom>
          <a:solidFill>
            <a:srgbClr val="FFFFFF"/>
          </a:solidFill>
          <a:ln w="1016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657600"/>
            <a:ext cx="5669280"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749039"/>
            <a:ext cx="5394960" cy="384048"/>
          </a:xfrm>
          <a:prstGeom prst="rect">
            <a:avLst/>
          </a:prstGeom>
          <a:noFill/>
        </p:spPr>
        <p:txBody>
          <a:bodyPr wrap="square">
            <a:spAutoFit/>
          </a:bodyPr>
          <a:lstStyle/>
          <a:p>
            <a:pPr algn="l"/>
            <a:r>
              <a:rPr sz="1300" b="1" i="0">
                <a:solidFill>
                  <a:srgbClr val="00275A"/>
                </a:solidFill>
                <a:latin typeface="Calibri"/>
              </a:rPr>
              <a:t>📖  Read-Only by Design</a:t>
            </a:r>
          </a:p>
        </p:txBody>
      </p:sp>
      <p:sp>
        <p:nvSpPr>
          <p:cNvPr id="21" name="TextBox 20"/>
          <p:cNvSpPr txBox="1"/>
          <p:nvPr/>
        </p:nvSpPr>
        <p:spPr>
          <a:xfrm>
            <a:off x="502920" y="4160520"/>
            <a:ext cx="5394960" cy="1627632"/>
          </a:xfrm>
          <a:prstGeom prst="rect">
            <a:avLst/>
          </a:prstGeom>
          <a:noFill/>
        </p:spPr>
        <p:txBody>
          <a:bodyPr wrap="square">
            <a:spAutoFit/>
          </a:bodyPr>
          <a:lstStyle/>
          <a:p>
            <a:pPr algn="l"/>
            <a:r>
              <a:rPr sz="1100" b="0" i="0">
                <a:solidFill>
                  <a:srgbClr val="333333"/>
                </a:solidFill>
                <a:latin typeface="Calibri"/>
              </a:rPr>
              <a:t>Every single SAP ADT endpoint used is an HTTP GET (read). The only POST call is GetPackage — it is a SAP ADT structural query, not a data write. No ABAP code is ever created, changed, or deleted by this system.</a:t>
            </a:r>
          </a:p>
        </p:txBody>
      </p:sp>
      <p:sp>
        <p:nvSpPr>
          <p:cNvPr id="22" name="Rectangle 21"/>
          <p:cNvSpPr/>
          <p:nvPr/>
        </p:nvSpPr>
        <p:spPr>
          <a:xfrm>
            <a:off x="6355080" y="3657600"/>
            <a:ext cx="5669280" cy="2240280"/>
          </a:xfrm>
          <a:prstGeom prst="rect">
            <a:avLst/>
          </a:prstGeom>
          <a:solidFill>
            <a:srgbClr val="FFFFFF"/>
          </a:solidFill>
          <a:ln w="1016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55080" y="3657600"/>
            <a:ext cx="5669280"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749039"/>
            <a:ext cx="5394960" cy="384048"/>
          </a:xfrm>
          <a:prstGeom prst="rect">
            <a:avLst/>
          </a:prstGeom>
          <a:noFill/>
        </p:spPr>
        <p:txBody>
          <a:bodyPr wrap="square">
            <a:spAutoFit/>
          </a:bodyPr>
          <a:lstStyle/>
          <a:p>
            <a:pPr algn="l"/>
            <a:r>
              <a:rPr sz="1300" b="1" i="0">
                <a:solidFill>
                  <a:srgbClr val="00275A"/>
                </a:solidFill>
                <a:latin typeface="Calibri"/>
              </a:rPr>
              <a:t>🚫  No Data Persistence</a:t>
            </a:r>
          </a:p>
        </p:txBody>
      </p:sp>
      <p:sp>
        <p:nvSpPr>
          <p:cNvPr id="25" name="TextBox 24"/>
          <p:cNvSpPr txBox="1"/>
          <p:nvPr/>
        </p:nvSpPr>
        <p:spPr>
          <a:xfrm>
            <a:off x="6492240" y="4160520"/>
            <a:ext cx="5394960" cy="1627632"/>
          </a:xfrm>
          <a:prstGeom prst="rect">
            <a:avLst/>
          </a:prstGeom>
          <a:noFill/>
        </p:spPr>
        <p:txBody>
          <a:bodyPr wrap="square">
            <a:spAutoFit/>
          </a:bodyPr>
          <a:lstStyle/>
          <a:p>
            <a:pPr algn="l"/>
            <a:r>
              <a:rPr sz="1100" b="0" i="0">
                <a:solidFill>
                  <a:srgbClr val="333333"/>
                </a:solidFill>
                <a:latin typeface="Calibri"/>
              </a:rPr>
              <a:t>The MCP server holds no database, no cache, no file store. Responses are streamed directly from SAP to Copilot. Nothing is written to disk. When the developer closes Eclipse, all context is gone.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Trusted Open-Source Libraries</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Every dependency is industry-standard, audit-friendly, and publicly maintained</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4 / 11</a:t>
            </a:r>
          </a:p>
        </p:txBody>
      </p:sp>
      <p:sp>
        <p:nvSpPr>
          <p:cNvPr id="10" name="Rectangle 9"/>
          <p:cNvSpPr/>
          <p:nvPr/>
        </p:nvSpPr>
        <p:spPr>
          <a:xfrm>
            <a:off x="228600" y="1143000"/>
            <a:ext cx="1792224" cy="38404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 y="1179576"/>
            <a:ext cx="1719072" cy="320040"/>
          </a:xfrm>
          <a:prstGeom prst="rect">
            <a:avLst/>
          </a:prstGeom>
          <a:noFill/>
        </p:spPr>
        <p:txBody>
          <a:bodyPr wrap="square">
            <a:spAutoFit/>
          </a:bodyPr>
          <a:lstStyle/>
          <a:p>
            <a:pPr algn="l"/>
            <a:r>
              <a:rPr sz="1100" b="1" i="0">
                <a:solidFill>
                  <a:srgbClr val="FFFFFF"/>
                </a:solidFill>
                <a:latin typeface="Calibri"/>
              </a:rPr>
              <a:t>Library</a:t>
            </a:r>
          </a:p>
        </p:txBody>
      </p:sp>
      <p:sp>
        <p:nvSpPr>
          <p:cNvPr id="12" name="Rectangle 11"/>
          <p:cNvSpPr/>
          <p:nvPr/>
        </p:nvSpPr>
        <p:spPr>
          <a:xfrm>
            <a:off x="2075688" y="1143000"/>
            <a:ext cx="969264" cy="38404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30552" y="1179576"/>
            <a:ext cx="896112" cy="320040"/>
          </a:xfrm>
          <a:prstGeom prst="rect">
            <a:avLst/>
          </a:prstGeom>
          <a:noFill/>
        </p:spPr>
        <p:txBody>
          <a:bodyPr wrap="square">
            <a:spAutoFit/>
          </a:bodyPr>
          <a:lstStyle/>
          <a:p>
            <a:pPr algn="l"/>
            <a:r>
              <a:rPr sz="1100" b="1" i="0">
                <a:solidFill>
                  <a:srgbClr val="FFFFFF"/>
                </a:solidFill>
                <a:latin typeface="Calibri"/>
              </a:rPr>
              <a:t>Licence</a:t>
            </a:r>
          </a:p>
        </p:txBody>
      </p:sp>
      <p:sp>
        <p:nvSpPr>
          <p:cNvPr id="14" name="Rectangle 13"/>
          <p:cNvSpPr/>
          <p:nvPr/>
        </p:nvSpPr>
        <p:spPr>
          <a:xfrm>
            <a:off x="3099816" y="1143000"/>
            <a:ext cx="2066543" cy="38404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1179576"/>
            <a:ext cx="1993391" cy="320040"/>
          </a:xfrm>
          <a:prstGeom prst="rect">
            <a:avLst/>
          </a:prstGeom>
          <a:noFill/>
        </p:spPr>
        <p:txBody>
          <a:bodyPr wrap="square">
            <a:spAutoFit/>
          </a:bodyPr>
          <a:lstStyle/>
          <a:p>
            <a:pPr algn="l"/>
            <a:r>
              <a:rPr sz="1100" b="1" i="0">
                <a:solidFill>
                  <a:srgbClr val="FFFFFF"/>
                </a:solidFill>
                <a:latin typeface="Calibri"/>
              </a:rPr>
              <a:t>Trust Signal</a:t>
            </a:r>
          </a:p>
        </p:txBody>
      </p:sp>
      <p:sp>
        <p:nvSpPr>
          <p:cNvPr id="16" name="Rectangle 15"/>
          <p:cNvSpPr/>
          <p:nvPr/>
        </p:nvSpPr>
        <p:spPr>
          <a:xfrm>
            <a:off x="5230368" y="1143000"/>
            <a:ext cx="6821424" cy="38404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85231" y="1179576"/>
            <a:ext cx="6748272" cy="320040"/>
          </a:xfrm>
          <a:prstGeom prst="rect">
            <a:avLst/>
          </a:prstGeom>
          <a:noFill/>
        </p:spPr>
        <p:txBody>
          <a:bodyPr wrap="square">
            <a:spAutoFit/>
          </a:bodyPr>
          <a:lstStyle/>
          <a:p>
            <a:pPr algn="l"/>
            <a:r>
              <a:rPr sz="1100" b="1" i="0">
                <a:solidFill>
                  <a:srgbClr val="FFFFFF"/>
                </a:solidFill>
                <a:latin typeface="Calibri"/>
              </a:rPr>
              <a:t>Purpose</a:t>
            </a:r>
          </a:p>
        </p:txBody>
      </p:sp>
      <p:sp>
        <p:nvSpPr>
          <p:cNvPr id="18" name="Rectangle 17"/>
          <p:cNvSpPr/>
          <p:nvPr/>
        </p:nvSpPr>
        <p:spPr>
          <a:xfrm>
            <a:off x="228600" y="1545336"/>
            <a:ext cx="17922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 y="1581912"/>
            <a:ext cx="1682496" cy="475488"/>
          </a:xfrm>
          <a:prstGeom prst="rect">
            <a:avLst/>
          </a:prstGeom>
          <a:noFill/>
        </p:spPr>
        <p:txBody>
          <a:bodyPr wrap="square">
            <a:spAutoFit/>
          </a:bodyPr>
          <a:lstStyle/>
          <a:p>
            <a:pPr algn="l"/>
            <a:r>
              <a:rPr sz="1000" b="1" i="0">
                <a:solidFill>
                  <a:srgbClr val="00275A"/>
                </a:solidFill>
                <a:latin typeface="Calibri"/>
              </a:rPr>
              <a:t>fastmcp</a:t>
            </a:r>
          </a:p>
        </p:txBody>
      </p:sp>
      <p:sp>
        <p:nvSpPr>
          <p:cNvPr id="20" name="Rectangle 19"/>
          <p:cNvSpPr/>
          <p:nvPr/>
        </p:nvSpPr>
        <p:spPr>
          <a:xfrm>
            <a:off x="2075688" y="1545336"/>
            <a:ext cx="96926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39696" y="1581912"/>
            <a:ext cx="859536" cy="475488"/>
          </a:xfrm>
          <a:prstGeom prst="rect">
            <a:avLst/>
          </a:prstGeom>
          <a:noFill/>
        </p:spPr>
        <p:txBody>
          <a:bodyPr wrap="square">
            <a:spAutoFit/>
          </a:bodyPr>
          <a:lstStyle/>
          <a:p>
            <a:pPr algn="l"/>
            <a:r>
              <a:rPr sz="1000" b="0" i="0">
                <a:solidFill>
                  <a:srgbClr val="333333"/>
                </a:solidFill>
                <a:latin typeface="Calibri"/>
              </a:rPr>
              <a:t>MIT</a:t>
            </a:r>
          </a:p>
        </p:txBody>
      </p:sp>
      <p:sp>
        <p:nvSpPr>
          <p:cNvPr id="22" name="Rectangle 21"/>
          <p:cNvSpPr/>
          <p:nvPr/>
        </p:nvSpPr>
        <p:spPr>
          <a:xfrm>
            <a:off x="3099816" y="1545336"/>
            <a:ext cx="2066543"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3824" y="1581912"/>
            <a:ext cx="1956815" cy="475488"/>
          </a:xfrm>
          <a:prstGeom prst="rect">
            <a:avLst/>
          </a:prstGeom>
          <a:noFill/>
        </p:spPr>
        <p:txBody>
          <a:bodyPr wrap="square">
            <a:spAutoFit/>
          </a:bodyPr>
          <a:lstStyle/>
          <a:p>
            <a:pPr algn="l"/>
            <a:r>
              <a:rPr sz="1000" b="0" i="0">
                <a:solidFill>
                  <a:srgbClr val="333333"/>
                </a:solidFill>
                <a:latin typeface="Calibri"/>
              </a:rPr>
              <a:t>PyPI — 10k+ downloads/month</a:t>
            </a:r>
          </a:p>
        </p:txBody>
      </p:sp>
      <p:sp>
        <p:nvSpPr>
          <p:cNvPr id="24" name="Rectangle 23"/>
          <p:cNvSpPr/>
          <p:nvPr/>
        </p:nvSpPr>
        <p:spPr>
          <a:xfrm>
            <a:off x="5230368" y="1545336"/>
            <a:ext cx="68214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94376" y="1581912"/>
            <a:ext cx="6711696" cy="475488"/>
          </a:xfrm>
          <a:prstGeom prst="rect">
            <a:avLst/>
          </a:prstGeom>
          <a:noFill/>
        </p:spPr>
        <p:txBody>
          <a:bodyPr wrap="square">
            <a:spAutoFit/>
          </a:bodyPr>
          <a:lstStyle/>
          <a:p>
            <a:pPr algn="l"/>
            <a:r>
              <a:rPr sz="900" b="0" i="0">
                <a:solidFill>
                  <a:srgbClr val="333333"/>
                </a:solidFill>
                <a:latin typeface="Calibri"/>
              </a:rPr>
              <a:t>MCP server framework. Provides the protocol layer between Copilot and the Python server. Actively maintained by the MCP open-source community.</a:t>
            </a:r>
          </a:p>
        </p:txBody>
      </p:sp>
      <p:sp>
        <p:nvSpPr>
          <p:cNvPr id="26" name="Rectangle 25"/>
          <p:cNvSpPr/>
          <p:nvPr/>
        </p:nvSpPr>
        <p:spPr>
          <a:xfrm>
            <a:off x="228600" y="2112264"/>
            <a:ext cx="179222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 y="2148840"/>
            <a:ext cx="1682496" cy="475488"/>
          </a:xfrm>
          <a:prstGeom prst="rect">
            <a:avLst/>
          </a:prstGeom>
          <a:noFill/>
        </p:spPr>
        <p:txBody>
          <a:bodyPr wrap="square">
            <a:spAutoFit/>
          </a:bodyPr>
          <a:lstStyle/>
          <a:p>
            <a:pPr algn="l"/>
            <a:r>
              <a:rPr sz="1000" b="1" i="0">
                <a:solidFill>
                  <a:srgbClr val="00275A"/>
                </a:solidFill>
                <a:latin typeface="Calibri"/>
              </a:rPr>
              <a:t>requests</a:t>
            </a:r>
          </a:p>
        </p:txBody>
      </p:sp>
      <p:sp>
        <p:nvSpPr>
          <p:cNvPr id="28" name="Rectangle 27"/>
          <p:cNvSpPr/>
          <p:nvPr/>
        </p:nvSpPr>
        <p:spPr>
          <a:xfrm>
            <a:off x="2075688" y="2112264"/>
            <a:ext cx="96926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39696" y="2148840"/>
            <a:ext cx="859536" cy="475488"/>
          </a:xfrm>
          <a:prstGeom prst="rect">
            <a:avLst/>
          </a:prstGeom>
          <a:noFill/>
        </p:spPr>
        <p:txBody>
          <a:bodyPr wrap="square">
            <a:spAutoFit/>
          </a:bodyPr>
          <a:lstStyle/>
          <a:p>
            <a:pPr algn="l"/>
            <a:r>
              <a:rPr sz="1000" b="0" i="0">
                <a:solidFill>
                  <a:srgbClr val="333333"/>
                </a:solidFill>
                <a:latin typeface="Calibri"/>
              </a:rPr>
              <a:t>Apache 2.0</a:t>
            </a:r>
          </a:p>
        </p:txBody>
      </p:sp>
      <p:sp>
        <p:nvSpPr>
          <p:cNvPr id="30" name="Rectangle 29"/>
          <p:cNvSpPr/>
          <p:nvPr/>
        </p:nvSpPr>
        <p:spPr>
          <a:xfrm>
            <a:off x="3099816" y="2112264"/>
            <a:ext cx="2066543"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63824" y="2148840"/>
            <a:ext cx="1956815" cy="475488"/>
          </a:xfrm>
          <a:prstGeom prst="rect">
            <a:avLst/>
          </a:prstGeom>
          <a:noFill/>
        </p:spPr>
        <p:txBody>
          <a:bodyPr wrap="square">
            <a:spAutoFit/>
          </a:bodyPr>
          <a:lstStyle/>
          <a:p>
            <a:pPr algn="l"/>
            <a:r>
              <a:rPr sz="1000" b="0" i="0">
                <a:solidFill>
                  <a:srgbClr val="333333"/>
                </a:solidFill>
                <a:latin typeface="Calibri"/>
              </a:rPr>
              <a:t>PyPI — 300M+ downloads/month</a:t>
            </a:r>
          </a:p>
        </p:txBody>
      </p:sp>
      <p:sp>
        <p:nvSpPr>
          <p:cNvPr id="32" name="Rectangle 31"/>
          <p:cNvSpPr/>
          <p:nvPr/>
        </p:nvSpPr>
        <p:spPr>
          <a:xfrm>
            <a:off x="5230368" y="2112264"/>
            <a:ext cx="682142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94376" y="2148840"/>
            <a:ext cx="6711696" cy="475488"/>
          </a:xfrm>
          <a:prstGeom prst="rect">
            <a:avLst/>
          </a:prstGeom>
          <a:noFill/>
        </p:spPr>
        <p:txBody>
          <a:bodyPr wrap="square">
            <a:spAutoFit/>
          </a:bodyPr>
          <a:lstStyle/>
          <a:p>
            <a:pPr algn="l"/>
            <a:r>
              <a:rPr sz="900" b="0" i="0">
                <a:solidFill>
                  <a:srgbClr val="333333"/>
                </a:solidFill>
                <a:latin typeface="Calibri"/>
              </a:rPr>
              <a:t>The most widely used Python HTTP library in the world. Powers AWS CLI, pip, and thousands of enterprise products.</a:t>
            </a:r>
          </a:p>
        </p:txBody>
      </p:sp>
      <p:sp>
        <p:nvSpPr>
          <p:cNvPr id="34" name="Rectangle 33"/>
          <p:cNvSpPr/>
          <p:nvPr/>
        </p:nvSpPr>
        <p:spPr>
          <a:xfrm>
            <a:off x="228600" y="2679191"/>
            <a:ext cx="17922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 y="2715768"/>
            <a:ext cx="1682496" cy="475488"/>
          </a:xfrm>
          <a:prstGeom prst="rect">
            <a:avLst/>
          </a:prstGeom>
          <a:noFill/>
        </p:spPr>
        <p:txBody>
          <a:bodyPr wrap="square">
            <a:spAutoFit/>
          </a:bodyPr>
          <a:lstStyle/>
          <a:p>
            <a:pPr algn="l"/>
            <a:r>
              <a:rPr sz="1000" b="1" i="0">
                <a:solidFill>
                  <a:srgbClr val="00275A"/>
                </a:solidFill>
                <a:latin typeface="Calibri"/>
              </a:rPr>
              <a:t>requests-negotiate-sspi</a:t>
            </a:r>
          </a:p>
        </p:txBody>
      </p:sp>
      <p:sp>
        <p:nvSpPr>
          <p:cNvPr id="36" name="Rectangle 35"/>
          <p:cNvSpPr/>
          <p:nvPr/>
        </p:nvSpPr>
        <p:spPr>
          <a:xfrm>
            <a:off x="2075688" y="2679191"/>
            <a:ext cx="96926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39696" y="2715768"/>
            <a:ext cx="859536" cy="475488"/>
          </a:xfrm>
          <a:prstGeom prst="rect">
            <a:avLst/>
          </a:prstGeom>
          <a:noFill/>
        </p:spPr>
        <p:txBody>
          <a:bodyPr wrap="square">
            <a:spAutoFit/>
          </a:bodyPr>
          <a:lstStyle/>
          <a:p>
            <a:pPr algn="l"/>
            <a:r>
              <a:rPr sz="1000" b="0" i="0">
                <a:solidFill>
                  <a:srgbClr val="333333"/>
                </a:solidFill>
                <a:latin typeface="Calibri"/>
              </a:rPr>
              <a:t>MIT</a:t>
            </a:r>
          </a:p>
        </p:txBody>
      </p:sp>
      <p:sp>
        <p:nvSpPr>
          <p:cNvPr id="38" name="Rectangle 37"/>
          <p:cNvSpPr/>
          <p:nvPr/>
        </p:nvSpPr>
        <p:spPr>
          <a:xfrm>
            <a:off x="3099816" y="2679191"/>
            <a:ext cx="2066543"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63824" y="2715768"/>
            <a:ext cx="1956815" cy="475488"/>
          </a:xfrm>
          <a:prstGeom prst="rect">
            <a:avLst/>
          </a:prstGeom>
          <a:noFill/>
        </p:spPr>
        <p:txBody>
          <a:bodyPr wrap="square">
            <a:spAutoFit/>
          </a:bodyPr>
          <a:lstStyle/>
          <a:p>
            <a:pPr algn="l"/>
            <a:r>
              <a:rPr sz="1000" b="0" i="0">
                <a:solidFill>
                  <a:srgbClr val="333333"/>
                </a:solidFill>
                <a:latin typeface="Calibri"/>
              </a:rPr>
              <a:t>PyPI — corporate standard</a:t>
            </a:r>
          </a:p>
        </p:txBody>
      </p:sp>
      <p:sp>
        <p:nvSpPr>
          <p:cNvPr id="40" name="Rectangle 39"/>
          <p:cNvSpPr/>
          <p:nvPr/>
        </p:nvSpPr>
        <p:spPr>
          <a:xfrm>
            <a:off x="5230368" y="2679191"/>
            <a:ext cx="68214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94376" y="2715768"/>
            <a:ext cx="6711696" cy="475488"/>
          </a:xfrm>
          <a:prstGeom prst="rect">
            <a:avLst/>
          </a:prstGeom>
          <a:noFill/>
        </p:spPr>
        <p:txBody>
          <a:bodyPr wrap="square">
            <a:spAutoFit/>
          </a:bodyPr>
          <a:lstStyle/>
          <a:p>
            <a:pPr algn="l"/>
            <a:r>
              <a:rPr sz="900" b="0" i="0">
                <a:solidFill>
                  <a:srgbClr val="333333"/>
                </a:solidFill>
                <a:latin typeface="Calibri"/>
              </a:rPr>
              <a:t>Adds Windows SSPI/Kerberos auth to requests. Used by SAP, Microsoft, and large enterprise Python stacks. No credentials are handled — OS does the auth.</a:t>
            </a:r>
          </a:p>
        </p:txBody>
      </p:sp>
      <p:sp>
        <p:nvSpPr>
          <p:cNvPr id="42" name="Rectangle 41"/>
          <p:cNvSpPr/>
          <p:nvPr/>
        </p:nvSpPr>
        <p:spPr>
          <a:xfrm>
            <a:off x="228600" y="3246120"/>
            <a:ext cx="179222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3282696"/>
            <a:ext cx="1682496" cy="475488"/>
          </a:xfrm>
          <a:prstGeom prst="rect">
            <a:avLst/>
          </a:prstGeom>
          <a:noFill/>
        </p:spPr>
        <p:txBody>
          <a:bodyPr wrap="square">
            <a:spAutoFit/>
          </a:bodyPr>
          <a:lstStyle/>
          <a:p>
            <a:pPr algn="l"/>
            <a:r>
              <a:rPr sz="1000" b="1" i="0">
                <a:solidFill>
                  <a:srgbClr val="00275A"/>
                </a:solidFill>
                <a:latin typeface="Calibri"/>
              </a:rPr>
              <a:t>truststore</a:t>
            </a:r>
          </a:p>
        </p:txBody>
      </p:sp>
      <p:sp>
        <p:nvSpPr>
          <p:cNvPr id="44" name="Rectangle 43"/>
          <p:cNvSpPr/>
          <p:nvPr/>
        </p:nvSpPr>
        <p:spPr>
          <a:xfrm>
            <a:off x="2075688" y="3246120"/>
            <a:ext cx="96926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39696" y="3282696"/>
            <a:ext cx="859536" cy="475488"/>
          </a:xfrm>
          <a:prstGeom prst="rect">
            <a:avLst/>
          </a:prstGeom>
          <a:noFill/>
        </p:spPr>
        <p:txBody>
          <a:bodyPr wrap="square">
            <a:spAutoFit/>
          </a:bodyPr>
          <a:lstStyle/>
          <a:p>
            <a:pPr algn="l"/>
            <a:r>
              <a:rPr sz="1000" b="0" i="0">
                <a:solidFill>
                  <a:srgbClr val="333333"/>
                </a:solidFill>
                <a:latin typeface="Calibri"/>
              </a:rPr>
              <a:t>MIT</a:t>
            </a:r>
          </a:p>
        </p:txBody>
      </p:sp>
      <p:sp>
        <p:nvSpPr>
          <p:cNvPr id="46" name="Rectangle 45"/>
          <p:cNvSpPr/>
          <p:nvPr/>
        </p:nvSpPr>
        <p:spPr>
          <a:xfrm>
            <a:off x="3099816" y="3246120"/>
            <a:ext cx="2066543"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63824" y="3282696"/>
            <a:ext cx="1956815" cy="475488"/>
          </a:xfrm>
          <a:prstGeom prst="rect">
            <a:avLst/>
          </a:prstGeom>
          <a:noFill/>
        </p:spPr>
        <p:txBody>
          <a:bodyPr wrap="square">
            <a:spAutoFit/>
          </a:bodyPr>
          <a:lstStyle/>
          <a:p>
            <a:pPr algn="l"/>
            <a:r>
              <a:rPr sz="1000" b="0" i="0">
                <a:solidFill>
                  <a:srgbClr val="333333"/>
                </a:solidFill>
                <a:latin typeface="Calibri"/>
              </a:rPr>
              <a:t>PyPI — Python PSF endorsed</a:t>
            </a:r>
          </a:p>
        </p:txBody>
      </p:sp>
      <p:sp>
        <p:nvSpPr>
          <p:cNvPr id="48" name="Rectangle 47"/>
          <p:cNvSpPr/>
          <p:nvPr/>
        </p:nvSpPr>
        <p:spPr>
          <a:xfrm>
            <a:off x="5230368" y="3246120"/>
            <a:ext cx="682142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94376" y="3282696"/>
            <a:ext cx="6711696" cy="475488"/>
          </a:xfrm>
          <a:prstGeom prst="rect">
            <a:avLst/>
          </a:prstGeom>
          <a:noFill/>
        </p:spPr>
        <p:txBody>
          <a:bodyPr wrap="square">
            <a:spAutoFit/>
          </a:bodyPr>
          <a:lstStyle/>
          <a:p>
            <a:pPr algn="l"/>
            <a:r>
              <a:rPr sz="900" b="0" i="0">
                <a:solidFill>
                  <a:srgbClr val="333333"/>
                </a:solidFill>
                <a:latin typeface="Calibri"/>
              </a:rPr>
              <a:t>Injects the Windows Certificate Store into Python SSL. Endorsed by the Python Software Foundation. Ensures Shell corporate CA certs are trusted automatically.</a:t>
            </a:r>
          </a:p>
        </p:txBody>
      </p:sp>
      <p:sp>
        <p:nvSpPr>
          <p:cNvPr id="50" name="Rectangle 49"/>
          <p:cNvSpPr/>
          <p:nvPr/>
        </p:nvSpPr>
        <p:spPr>
          <a:xfrm>
            <a:off x="228600" y="3813048"/>
            <a:ext cx="17922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2608" y="3849624"/>
            <a:ext cx="1682496" cy="475488"/>
          </a:xfrm>
          <a:prstGeom prst="rect">
            <a:avLst/>
          </a:prstGeom>
          <a:noFill/>
        </p:spPr>
        <p:txBody>
          <a:bodyPr wrap="square">
            <a:spAutoFit/>
          </a:bodyPr>
          <a:lstStyle/>
          <a:p>
            <a:pPr algn="l"/>
            <a:r>
              <a:rPr sz="1000" b="1" i="0">
                <a:solidFill>
                  <a:srgbClr val="00275A"/>
                </a:solidFill>
                <a:latin typeface="Calibri"/>
              </a:rPr>
              <a:t>python-dotenv</a:t>
            </a:r>
          </a:p>
        </p:txBody>
      </p:sp>
      <p:sp>
        <p:nvSpPr>
          <p:cNvPr id="52" name="Rectangle 51"/>
          <p:cNvSpPr/>
          <p:nvPr/>
        </p:nvSpPr>
        <p:spPr>
          <a:xfrm>
            <a:off x="2075688" y="3813048"/>
            <a:ext cx="96926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39696" y="3849624"/>
            <a:ext cx="859536" cy="475488"/>
          </a:xfrm>
          <a:prstGeom prst="rect">
            <a:avLst/>
          </a:prstGeom>
          <a:noFill/>
        </p:spPr>
        <p:txBody>
          <a:bodyPr wrap="square">
            <a:spAutoFit/>
          </a:bodyPr>
          <a:lstStyle/>
          <a:p>
            <a:pPr algn="l"/>
            <a:r>
              <a:rPr sz="1000" b="0" i="0">
                <a:solidFill>
                  <a:srgbClr val="333333"/>
                </a:solidFill>
                <a:latin typeface="Calibri"/>
              </a:rPr>
              <a:t>BSD-3</a:t>
            </a:r>
          </a:p>
        </p:txBody>
      </p:sp>
      <p:sp>
        <p:nvSpPr>
          <p:cNvPr id="54" name="Rectangle 53"/>
          <p:cNvSpPr/>
          <p:nvPr/>
        </p:nvSpPr>
        <p:spPr>
          <a:xfrm>
            <a:off x="3099816" y="3813048"/>
            <a:ext cx="2066543"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63824" y="3849624"/>
            <a:ext cx="1956815" cy="475488"/>
          </a:xfrm>
          <a:prstGeom prst="rect">
            <a:avLst/>
          </a:prstGeom>
          <a:noFill/>
        </p:spPr>
        <p:txBody>
          <a:bodyPr wrap="square">
            <a:spAutoFit/>
          </a:bodyPr>
          <a:lstStyle/>
          <a:p>
            <a:pPr algn="l"/>
            <a:r>
              <a:rPr sz="1000" b="0" i="0">
                <a:solidFill>
                  <a:srgbClr val="333333"/>
                </a:solidFill>
                <a:latin typeface="Calibri"/>
              </a:rPr>
              <a:t>PyPI — 100M+ downloads/month</a:t>
            </a:r>
          </a:p>
        </p:txBody>
      </p:sp>
      <p:sp>
        <p:nvSpPr>
          <p:cNvPr id="56" name="Rectangle 55"/>
          <p:cNvSpPr/>
          <p:nvPr/>
        </p:nvSpPr>
        <p:spPr>
          <a:xfrm>
            <a:off x="5230368" y="3813048"/>
            <a:ext cx="68214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294376" y="3849624"/>
            <a:ext cx="6711696" cy="475488"/>
          </a:xfrm>
          <a:prstGeom prst="rect">
            <a:avLst/>
          </a:prstGeom>
          <a:noFill/>
        </p:spPr>
        <p:txBody>
          <a:bodyPr wrap="square">
            <a:spAutoFit/>
          </a:bodyPr>
          <a:lstStyle/>
          <a:p>
            <a:pPr algn="l"/>
            <a:r>
              <a:rPr sz="900" b="0" i="0">
                <a:solidFill>
                  <a:srgbClr val="333333"/>
                </a:solidFill>
                <a:latin typeface="Calibri"/>
              </a:rPr>
              <a:t>Loads environment variables from a .env file. No network calls. No telemetry. Single-purpose configuration utility.</a:t>
            </a:r>
          </a:p>
        </p:txBody>
      </p:sp>
      <p:sp>
        <p:nvSpPr>
          <p:cNvPr id="58" name="Rectangle 57"/>
          <p:cNvSpPr/>
          <p:nvPr/>
        </p:nvSpPr>
        <p:spPr>
          <a:xfrm>
            <a:off x="228600" y="4379976"/>
            <a:ext cx="179222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4416552"/>
            <a:ext cx="1682496" cy="475488"/>
          </a:xfrm>
          <a:prstGeom prst="rect">
            <a:avLst/>
          </a:prstGeom>
          <a:noFill/>
        </p:spPr>
        <p:txBody>
          <a:bodyPr wrap="square">
            <a:spAutoFit/>
          </a:bodyPr>
          <a:lstStyle/>
          <a:p>
            <a:pPr algn="l"/>
            <a:r>
              <a:rPr sz="1000" b="1" i="0">
                <a:solidFill>
                  <a:srgbClr val="00275A"/>
                </a:solidFill>
                <a:latin typeface="Calibri"/>
              </a:rPr>
              <a:t>xmltodict</a:t>
            </a:r>
          </a:p>
        </p:txBody>
      </p:sp>
      <p:sp>
        <p:nvSpPr>
          <p:cNvPr id="60" name="Rectangle 59"/>
          <p:cNvSpPr/>
          <p:nvPr/>
        </p:nvSpPr>
        <p:spPr>
          <a:xfrm>
            <a:off x="2075688" y="4379976"/>
            <a:ext cx="96926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139696" y="4416552"/>
            <a:ext cx="859536" cy="475488"/>
          </a:xfrm>
          <a:prstGeom prst="rect">
            <a:avLst/>
          </a:prstGeom>
          <a:noFill/>
        </p:spPr>
        <p:txBody>
          <a:bodyPr wrap="square">
            <a:spAutoFit/>
          </a:bodyPr>
          <a:lstStyle/>
          <a:p>
            <a:pPr algn="l"/>
            <a:r>
              <a:rPr sz="1000" b="0" i="0">
                <a:solidFill>
                  <a:srgbClr val="333333"/>
                </a:solidFill>
                <a:latin typeface="Calibri"/>
              </a:rPr>
              <a:t>MIT</a:t>
            </a:r>
          </a:p>
        </p:txBody>
      </p:sp>
      <p:sp>
        <p:nvSpPr>
          <p:cNvPr id="62" name="Rectangle 61"/>
          <p:cNvSpPr/>
          <p:nvPr/>
        </p:nvSpPr>
        <p:spPr>
          <a:xfrm>
            <a:off x="3099816" y="4379976"/>
            <a:ext cx="2066543"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63824" y="4416552"/>
            <a:ext cx="1956815" cy="475488"/>
          </a:xfrm>
          <a:prstGeom prst="rect">
            <a:avLst/>
          </a:prstGeom>
          <a:noFill/>
        </p:spPr>
        <p:txBody>
          <a:bodyPr wrap="square">
            <a:spAutoFit/>
          </a:bodyPr>
          <a:lstStyle/>
          <a:p>
            <a:pPr algn="l"/>
            <a:r>
              <a:rPr sz="1000" b="0" i="0">
                <a:solidFill>
                  <a:srgbClr val="333333"/>
                </a:solidFill>
                <a:latin typeface="Calibri"/>
              </a:rPr>
              <a:t>PyPI — 50M+ downloads/month</a:t>
            </a:r>
          </a:p>
        </p:txBody>
      </p:sp>
      <p:sp>
        <p:nvSpPr>
          <p:cNvPr id="64" name="Rectangle 63"/>
          <p:cNvSpPr/>
          <p:nvPr/>
        </p:nvSpPr>
        <p:spPr>
          <a:xfrm>
            <a:off x="5230368" y="4379976"/>
            <a:ext cx="6821424" cy="530352"/>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294376" y="4416552"/>
            <a:ext cx="6711696" cy="475488"/>
          </a:xfrm>
          <a:prstGeom prst="rect">
            <a:avLst/>
          </a:prstGeom>
          <a:noFill/>
        </p:spPr>
        <p:txBody>
          <a:bodyPr wrap="square">
            <a:spAutoFit/>
          </a:bodyPr>
          <a:lstStyle/>
          <a:p>
            <a:pPr algn="l"/>
            <a:r>
              <a:rPr sz="900" b="0" i="0">
                <a:solidFill>
                  <a:srgbClr val="333333"/>
                </a:solidFill>
                <a:latin typeface="Calibri"/>
              </a:rPr>
              <a:t>Parses SAP ADT XML responses into Python dicts. Pure Python, no native code, no network access.</a:t>
            </a:r>
          </a:p>
        </p:txBody>
      </p:sp>
      <p:sp>
        <p:nvSpPr>
          <p:cNvPr id="66" name="Rectangle 65"/>
          <p:cNvSpPr/>
          <p:nvPr/>
        </p:nvSpPr>
        <p:spPr>
          <a:xfrm>
            <a:off x="228600" y="4946904"/>
            <a:ext cx="17922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92608" y="4983480"/>
            <a:ext cx="1682496" cy="475488"/>
          </a:xfrm>
          <a:prstGeom prst="rect">
            <a:avLst/>
          </a:prstGeom>
          <a:noFill/>
        </p:spPr>
        <p:txBody>
          <a:bodyPr wrap="square">
            <a:spAutoFit/>
          </a:bodyPr>
          <a:lstStyle/>
          <a:p>
            <a:pPr algn="l"/>
            <a:r>
              <a:rPr sz="1000" b="1" i="0">
                <a:solidFill>
                  <a:srgbClr val="00275A"/>
                </a:solidFill>
                <a:latin typeface="Calibri"/>
              </a:rPr>
              <a:t>llama-index-core</a:t>
            </a:r>
          </a:p>
        </p:txBody>
      </p:sp>
      <p:sp>
        <p:nvSpPr>
          <p:cNvPr id="68" name="Rectangle 67"/>
          <p:cNvSpPr/>
          <p:nvPr/>
        </p:nvSpPr>
        <p:spPr>
          <a:xfrm>
            <a:off x="2075688" y="4946904"/>
            <a:ext cx="96926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139696" y="4983480"/>
            <a:ext cx="859536" cy="475488"/>
          </a:xfrm>
          <a:prstGeom prst="rect">
            <a:avLst/>
          </a:prstGeom>
          <a:noFill/>
        </p:spPr>
        <p:txBody>
          <a:bodyPr wrap="square">
            <a:spAutoFit/>
          </a:bodyPr>
          <a:lstStyle/>
          <a:p>
            <a:pPr algn="l"/>
            <a:r>
              <a:rPr sz="1000" b="0" i="0">
                <a:solidFill>
                  <a:srgbClr val="333333"/>
                </a:solidFill>
                <a:latin typeface="Calibri"/>
              </a:rPr>
              <a:t>MIT</a:t>
            </a:r>
          </a:p>
        </p:txBody>
      </p:sp>
      <p:sp>
        <p:nvSpPr>
          <p:cNvPr id="70" name="Rectangle 69"/>
          <p:cNvSpPr/>
          <p:nvPr/>
        </p:nvSpPr>
        <p:spPr>
          <a:xfrm>
            <a:off x="3099816" y="4946904"/>
            <a:ext cx="2066543"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163824" y="4983480"/>
            <a:ext cx="1956815" cy="475488"/>
          </a:xfrm>
          <a:prstGeom prst="rect">
            <a:avLst/>
          </a:prstGeom>
          <a:noFill/>
        </p:spPr>
        <p:txBody>
          <a:bodyPr wrap="square">
            <a:spAutoFit/>
          </a:bodyPr>
          <a:lstStyle/>
          <a:p>
            <a:pPr algn="l"/>
            <a:r>
              <a:rPr sz="1000" b="0" i="0">
                <a:solidFill>
                  <a:srgbClr val="333333"/>
                </a:solidFill>
                <a:latin typeface="Calibri"/>
              </a:rPr>
              <a:t>PyPI — actively maintained</a:t>
            </a:r>
          </a:p>
        </p:txBody>
      </p:sp>
      <p:sp>
        <p:nvSpPr>
          <p:cNvPr id="72" name="Rectangle 71"/>
          <p:cNvSpPr/>
          <p:nvPr/>
        </p:nvSpPr>
        <p:spPr>
          <a:xfrm>
            <a:off x="5230368" y="4946904"/>
            <a:ext cx="6821424" cy="530352"/>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294376" y="4983480"/>
            <a:ext cx="6711696" cy="475488"/>
          </a:xfrm>
          <a:prstGeom prst="rect">
            <a:avLst/>
          </a:prstGeom>
          <a:noFill/>
        </p:spPr>
        <p:txBody>
          <a:bodyPr wrap="square">
            <a:spAutoFit/>
          </a:bodyPr>
          <a:lstStyle/>
          <a:p>
            <a:pPr algn="l"/>
            <a:r>
              <a:rPr sz="900" b="0" i="0">
                <a:solidFill>
                  <a:srgbClr val="333333"/>
                </a:solidFill>
                <a:latin typeface="Calibri"/>
              </a:rPr>
              <a:t>Keyword-based text retrieval for the BAPI/BADI search feature. No LLM calls made internally — used purely for TF-IDF keyword indexing of SAP catalog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The LLM Cannot Write to SAP — By Design</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Multiple independent layers prevent any data modification</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5 / 11</a:t>
            </a:r>
          </a:p>
        </p:txBody>
      </p:sp>
      <p:sp>
        <p:nvSpPr>
          <p:cNvPr id="10" name="Rectangle 9"/>
          <p:cNvSpPr/>
          <p:nvPr/>
        </p:nvSpPr>
        <p:spPr>
          <a:xfrm>
            <a:off x="274320" y="1188720"/>
            <a:ext cx="1161288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188720"/>
            <a:ext cx="73152" cy="12070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7772400" cy="347472"/>
          </a:xfrm>
          <a:prstGeom prst="rect">
            <a:avLst/>
          </a:prstGeom>
          <a:noFill/>
        </p:spPr>
        <p:txBody>
          <a:bodyPr wrap="square">
            <a:spAutoFit/>
          </a:bodyPr>
          <a:lstStyle/>
          <a:p>
            <a:pPr algn="l"/>
            <a:r>
              <a:rPr sz="1300" b="1" i="0">
                <a:solidFill>
                  <a:srgbClr val="00275A"/>
                </a:solidFill>
                <a:latin typeface="Calibri"/>
              </a:rPr>
              <a:t>Layer 1 — No ADT Write Endpoints Exposed</a:t>
            </a:r>
          </a:p>
        </p:txBody>
      </p:sp>
      <p:sp>
        <p:nvSpPr>
          <p:cNvPr id="13" name="TextBox 12"/>
          <p:cNvSpPr txBox="1"/>
          <p:nvPr/>
        </p:nvSpPr>
        <p:spPr>
          <a:xfrm>
            <a:off x="8503920" y="1252728"/>
            <a:ext cx="3200400" cy="320040"/>
          </a:xfrm>
          <a:prstGeom prst="rect">
            <a:avLst/>
          </a:prstGeom>
          <a:noFill/>
        </p:spPr>
        <p:txBody>
          <a:bodyPr wrap="square">
            <a:spAutoFit/>
          </a:bodyPr>
          <a:lstStyle/>
          <a:p>
            <a:pPr algn="r"/>
            <a:r>
              <a:rPr sz="1000" b="1" i="0">
                <a:solidFill>
                  <a:srgbClr val="1A7A4A"/>
                </a:solidFill>
                <a:latin typeface="Calibri"/>
              </a:rPr>
              <a:t>✅ Structural — not configurable away</a:t>
            </a:r>
          </a:p>
        </p:txBody>
      </p:sp>
      <p:sp>
        <p:nvSpPr>
          <p:cNvPr id="14" name="TextBox 13"/>
          <p:cNvSpPr txBox="1"/>
          <p:nvPr/>
        </p:nvSpPr>
        <p:spPr>
          <a:xfrm>
            <a:off x="502920" y="1609344"/>
            <a:ext cx="11064240" cy="713232"/>
          </a:xfrm>
          <a:prstGeom prst="rect">
            <a:avLst/>
          </a:prstGeom>
          <a:noFill/>
        </p:spPr>
        <p:txBody>
          <a:bodyPr wrap="square">
            <a:spAutoFit/>
          </a:bodyPr>
          <a:lstStyle/>
          <a:p>
            <a:pPr algn="l"/>
            <a:r>
              <a:rPr sz="1000" b="0" i="0">
                <a:solidFill>
                  <a:srgbClr val="333333"/>
                </a:solidFill>
                <a:latin typeface="Calibri"/>
              </a:rPr>
              <a:t>The MCP server only calls SAP ADT read endpoints (HTTP GET for classes, programs, tables, CDS, etc.). No write, update, delete, or transport-release endpoints are registered as MCP tools. The LLM physically cannot call something that does not exist in the server.</a:t>
            </a:r>
          </a:p>
        </p:txBody>
      </p:sp>
      <p:sp>
        <p:nvSpPr>
          <p:cNvPr id="15" name="Rectangle 14"/>
          <p:cNvSpPr/>
          <p:nvPr/>
        </p:nvSpPr>
        <p:spPr>
          <a:xfrm>
            <a:off x="274320" y="2514600"/>
            <a:ext cx="1161288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2514600"/>
            <a:ext cx="73152" cy="12070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578608"/>
            <a:ext cx="7772400" cy="347472"/>
          </a:xfrm>
          <a:prstGeom prst="rect">
            <a:avLst/>
          </a:prstGeom>
          <a:noFill/>
        </p:spPr>
        <p:txBody>
          <a:bodyPr wrap="square">
            <a:spAutoFit/>
          </a:bodyPr>
          <a:lstStyle/>
          <a:p>
            <a:pPr algn="l"/>
            <a:r>
              <a:rPr sz="1300" b="1" i="0">
                <a:solidFill>
                  <a:srgbClr val="00275A"/>
                </a:solidFill>
                <a:latin typeface="Calibri"/>
              </a:rPr>
              <a:t>Layer 2 — No CSRF Token for Modification Calls</a:t>
            </a:r>
          </a:p>
        </p:txBody>
      </p:sp>
      <p:sp>
        <p:nvSpPr>
          <p:cNvPr id="18" name="TextBox 17"/>
          <p:cNvSpPr txBox="1"/>
          <p:nvPr/>
        </p:nvSpPr>
        <p:spPr>
          <a:xfrm>
            <a:off x="8503920" y="2578608"/>
            <a:ext cx="3200400" cy="320040"/>
          </a:xfrm>
          <a:prstGeom prst="rect">
            <a:avLst/>
          </a:prstGeom>
          <a:noFill/>
        </p:spPr>
        <p:txBody>
          <a:bodyPr wrap="square">
            <a:spAutoFit/>
          </a:bodyPr>
          <a:lstStyle/>
          <a:p>
            <a:pPr algn="r"/>
            <a:r>
              <a:rPr sz="1000" b="1" i="0">
                <a:solidFill>
                  <a:srgbClr val="1A7A4A"/>
                </a:solidFill>
                <a:latin typeface="Calibri"/>
              </a:rPr>
              <a:t>✅ SAP-enforced — server would get HTTP 403 even if it tried</a:t>
            </a:r>
          </a:p>
        </p:txBody>
      </p:sp>
      <p:sp>
        <p:nvSpPr>
          <p:cNvPr id="19" name="TextBox 18"/>
          <p:cNvSpPr txBox="1"/>
          <p:nvPr/>
        </p:nvSpPr>
        <p:spPr>
          <a:xfrm>
            <a:off x="502920" y="2935224"/>
            <a:ext cx="11064240" cy="713232"/>
          </a:xfrm>
          <a:prstGeom prst="rect">
            <a:avLst/>
          </a:prstGeom>
          <a:noFill/>
        </p:spPr>
        <p:txBody>
          <a:bodyPr wrap="square">
            <a:spAutoFit/>
          </a:bodyPr>
          <a:lstStyle/>
          <a:p>
            <a:pPr algn="l"/>
            <a:r>
              <a:rPr sz="1000" b="0" i="0">
                <a:solidFill>
                  <a:srgbClr val="333333"/>
                </a:solidFill>
                <a:latin typeface="Calibri"/>
              </a:rPr>
              <a:t>SAP ADT requires a valid CSRF token for all state-changing operations. The MCP server only fetches CSRF tokens for the GetPackage structural query (which is a POST by SAP ADT design, not a modification). No CSRF token is ever fetched for class/program/transport modification endpoints.</a:t>
            </a:r>
          </a:p>
        </p:txBody>
      </p:sp>
      <p:sp>
        <p:nvSpPr>
          <p:cNvPr id="20" name="Rectangle 19"/>
          <p:cNvSpPr/>
          <p:nvPr/>
        </p:nvSpPr>
        <p:spPr>
          <a:xfrm>
            <a:off x="274320" y="3840480"/>
            <a:ext cx="1161288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840480"/>
            <a:ext cx="73152" cy="12070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904488"/>
            <a:ext cx="7772400" cy="347472"/>
          </a:xfrm>
          <a:prstGeom prst="rect">
            <a:avLst/>
          </a:prstGeom>
          <a:noFill/>
        </p:spPr>
        <p:txBody>
          <a:bodyPr wrap="square">
            <a:spAutoFit/>
          </a:bodyPr>
          <a:lstStyle/>
          <a:p>
            <a:pPr algn="l"/>
            <a:r>
              <a:rPr sz="1300" b="1" i="0">
                <a:solidFill>
                  <a:srgbClr val="00275A"/>
                </a:solidFill>
                <a:latin typeface="Calibri"/>
              </a:rPr>
              <a:t>Layer 3 — Copilot Cannot Execute ABAP</a:t>
            </a:r>
          </a:p>
        </p:txBody>
      </p:sp>
      <p:sp>
        <p:nvSpPr>
          <p:cNvPr id="23" name="TextBox 22"/>
          <p:cNvSpPr txBox="1"/>
          <p:nvPr/>
        </p:nvSpPr>
        <p:spPr>
          <a:xfrm>
            <a:off x="8503920" y="3904488"/>
            <a:ext cx="3200400" cy="320040"/>
          </a:xfrm>
          <a:prstGeom prst="rect">
            <a:avLst/>
          </a:prstGeom>
          <a:noFill/>
        </p:spPr>
        <p:txBody>
          <a:bodyPr wrap="square">
            <a:spAutoFit/>
          </a:bodyPr>
          <a:lstStyle/>
          <a:p>
            <a:pPr algn="r"/>
            <a:r>
              <a:rPr sz="1000" b="1" i="0">
                <a:solidFill>
                  <a:srgbClr val="1A7A4A"/>
                </a:solidFill>
                <a:latin typeface="Calibri"/>
              </a:rPr>
              <a:t>✅ Human-in-the-loop — cannot be bypassed</a:t>
            </a:r>
          </a:p>
        </p:txBody>
      </p:sp>
      <p:sp>
        <p:nvSpPr>
          <p:cNvPr id="24" name="TextBox 23"/>
          <p:cNvSpPr txBox="1"/>
          <p:nvPr/>
        </p:nvSpPr>
        <p:spPr>
          <a:xfrm>
            <a:off x="502920" y="4261104"/>
            <a:ext cx="11064240" cy="713232"/>
          </a:xfrm>
          <a:prstGeom prst="rect">
            <a:avLst/>
          </a:prstGeom>
          <a:noFill/>
        </p:spPr>
        <p:txBody>
          <a:bodyPr wrap="square">
            <a:spAutoFit/>
          </a:bodyPr>
          <a:lstStyle/>
          <a:p>
            <a:pPr algn="l"/>
            <a:r>
              <a:rPr sz="1000" b="0" i="0">
                <a:solidFill>
                  <a:srgbClr val="333333"/>
                </a:solidFill>
                <a:latin typeface="Calibri"/>
              </a:rPr>
              <a:t>GitHub Copilot generates ABAP code as text suggestions in the editor. It has no ability to submit that code to the SAP system — the developer must manually copy, open SE24/SE38, and activate it. The chain from 'LLM output' to 'running in SAP' always requires explicit human action.</a:t>
            </a:r>
          </a:p>
        </p:txBody>
      </p:sp>
      <p:sp>
        <p:nvSpPr>
          <p:cNvPr id="25" name="Rectangle 24"/>
          <p:cNvSpPr/>
          <p:nvPr/>
        </p:nvSpPr>
        <p:spPr>
          <a:xfrm>
            <a:off x="274320" y="5166359"/>
            <a:ext cx="1161288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5166359"/>
            <a:ext cx="73152" cy="12070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5230368"/>
            <a:ext cx="7772400" cy="347472"/>
          </a:xfrm>
          <a:prstGeom prst="rect">
            <a:avLst/>
          </a:prstGeom>
          <a:noFill/>
        </p:spPr>
        <p:txBody>
          <a:bodyPr wrap="square">
            <a:spAutoFit/>
          </a:bodyPr>
          <a:lstStyle/>
          <a:p>
            <a:pPr algn="l"/>
            <a:r>
              <a:rPr sz="1300" b="1" i="0">
                <a:solidFill>
                  <a:srgbClr val="00275A"/>
                </a:solidFill>
                <a:latin typeface="Calibri"/>
              </a:rPr>
              <a:t>Layer 4 — SAP authorisation still applies</a:t>
            </a:r>
          </a:p>
        </p:txBody>
      </p:sp>
      <p:sp>
        <p:nvSpPr>
          <p:cNvPr id="28" name="TextBox 27"/>
          <p:cNvSpPr txBox="1"/>
          <p:nvPr/>
        </p:nvSpPr>
        <p:spPr>
          <a:xfrm>
            <a:off x="8503920" y="5230368"/>
            <a:ext cx="3200400" cy="320040"/>
          </a:xfrm>
          <a:prstGeom prst="rect">
            <a:avLst/>
          </a:prstGeom>
          <a:noFill/>
        </p:spPr>
        <p:txBody>
          <a:bodyPr wrap="square">
            <a:spAutoFit/>
          </a:bodyPr>
          <a:lstStyle/>
          <a:p>
            <a:pPr algn="r"/>
            <a:r>
              <a:rPr sz="1000" b="1" i="0">
                <a:solidFill>
                  <a:srgbClr val="1A7A4A"/>
                </a:solidFill>
                <a:latin typeface="Calibri"/>
              </a:rPr>
              <a:t>✅ SAP auth layer — independent safety net</a:t>
            </a:r>
          </a:p>
        </p:txBody>
      </p:sp>
      <p:sp>
        <p:nvSpPr>
          <p:cNvPr id="29" name="TextBox 28"/>
          <p:cNvSpPr txBox="1"/>
          <p:nvPr/>
        </p:nvSpPr>
        <p:spPr>
          <a:xfrm>
            <a:off x="502920" y="5586983"/>
            <a:ext cx="11064240" cy="713232"/>
          </a:xfrm>
          <a:prstGeom prst="rect">
            <a:avLst/>
          </a:prstGeom>
          <a:noFill/>
        </p:spPr>
        <p:txBody>
          <a:bodyPr wrap="square">
            <a:spAutoFit/>
          </a:bodyPr>
          <a:lstStyle/>
          <a:p>
            <a:pPr algn="l"/>
            <a:r>
              <a:rPr sz="1000" b="0" i="0">
                <a:solidFill>
                  <a:srgbClr val="333333"/>
                </a:solidFill>
                <a:latin typeface="Calibri"/>
              </a:rPr>
              <a:t>Even if someone modified the server to add a write tool, SAP would still enforce the developer's own S_DEVELOP and object-level authorisations. The MCP server inherits the same access rights as the logged-in Windows user — nothing elevated.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Risk Comparison: Today vs This Solution</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If pasting a single ABAP object to Copilot is already approved, this is safer</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6 / 11</a:t>
            </a:r>
          </a:p>
        </p:txBody>
      </p:sp>
      <p:sp>
        <p:nvSpPr>
          <p:cNvPr id="10" name="Rectangle 9"/>
          <p:cNvSpPr/>
          <p:nvPr/>
        </p:nvSpPr>
        <p:spPr>
          <a:xfrm>
            <a:off x="274320" y="1143000"/>
            <a:ext cx="5394960" cy="5120640"/>
          </a:xfrm>
          <a:prstGeom prst="rect">
            <a:avLst/>
          </a:prstGeom>
          <a:solidFill>
            <a:srgbClr val="FFFFFF"/>
          </a:solidFill>
          <a:ln w="1016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143000"/>
            <a:ext cx="5394960" cy="438912"/>
          </a:xfrm>
          <a:prstGeom prst="rect">
            <a:avLst/>
          </a:prstGeom>
          <a:solidFill>
            <a:srgbClr val="CCD3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170432"/>
            <a:ext cx="5120640" cy="384048"/>
          </a:xfrm>
          <a:prstGeom prst="rect">
            <a:avLst/>
          </a:prstGeom>
          <a:noFill/>
        </p:spPr>
        <p:txBody>
          <a:bodyPr wrap="square">
            <a:spAutoFit/>
          </a:bodyPr>
          <a:lstStyle/>
          <a:p>
            <a:pPr algn="l"/>
            <a:r>
              <a:rPr sz="1400" b="1" i="0">
                <a:solidFill>
                  <a:srgbClr val="00275A"/>
                </a:solidFill>
                <a:latin typeface="Calibri"/>
              </a:rPr>
              <a:t>TODAY — Manual Sharing</a:t>
            </a:r>
          </a:p>
        </p:txBody>
      </p:sp>
      <p:sp>
        <p:nvSpPr>
          <p:cNvPr id="13" name="TextBox 12"/>
          <p:cNvSpPr txBox="1"/>
          <p:nvPr/>
        </p:nvSpPr>
        <p:spPr>
          <a:xfrm>
            <a:off x="457200" y="1691640"/>
            <a:ext cx="5120640" cy="566928"/>
          </a:xfrm>
          <a:prstGeom prst="rect">
            <a:avLst/>
          </a:prstGeom>
          <a:noFill/>
        </p:spPr>
        <p:txBody>
          <a:bodyPr wrap="square">
            <a:spAutoFit/>
          </a:bodyPr>
          <a:lstStyle/>
          <a:p>
            <a:pPr algn="l"/>
            <a:r>
              <a:rPr sz="1100" b="0" i="0">
                <a:solidFill>
                  <a:srgbClr val="333333"/>
                </a:solidFill>
                <a:latin typeface="Calibri"/>
              </a:rPr>
              <a:t>•  Developer manually opens an ABAP object in Eclipse</a:t>
            </a:r>
          </a:p>
        </p:txBody>
      </p:sp>
      <p:sp>
        <p:nvSpPr>
          <p:cNvPr id="14" name="TextBox 13"/>
          <p:cNvSpPr txBox="1"/>
          <p:nvPr/>
        </p:nvSpPr>
        <p:spPr>
          <a:xfrm>
            <a:off x="457200" y="2313432"/>
            <a:ext cx="5120640" cy="566928"/>
          </a:xfrm>
          <a:prstGeom prst="rect">
            <a:avLst/>
          </a:prstGeom>
          <a:noFill/>
        </p:spPr>
        <p:txBody>
          <a:bodyPr wrap="square">
            <a:spAutoFit/>
          </a:bodyPr>
          <a:lstStyle/>
          <a:p>
            <a:pPr algn="l"/>
            <a:r>
              <a:rPr sz="1100" b="0" i="0">
                <a:solidFill>
                  <a:srgbClr val="333333"/>
                </a:solidFill>
                <a:latin typeface="Calibri"/>
              </a:rPr>
              <a:t>•  Copies the full source code (could be thousands of lines)</a:t>
            </a:r>
          </a:p>
        </p:txBody>
      </p:sp>
      <p:sp>
        <p:nvSpPr>
          <p:cNvPr id="15" name="TextBox 14"/>
          <p:cNvSpPr txBox="1"/>
          <p:nvPr/>
        </p:nvSpPr>
        <p:spPr>
          <a:xfrm>
            <a:off x="457200" y="2935224"/>
            <a:ext cx="5120640" cy="566928"/>
          </a:xfrm>
          <a:prstGeom prst="rect">
            <a:avLst/>
          </a:prstGeom>
          <a:noFill/>
        </p:spPr>
        <p:txBody>
          <a:bodyPr wrap="square">
            <a:spAutoFit/>
          </a:bodyPr>
          <a:lstStyle/>
          <a:p>
            <a:pPr algn="l"/>
            <a:r>
              <a:rPr sz="1100" b="0" i="0">
                <a:solidFill>
                  <a:srgbClr val="333333"/>
                </a:solidFill>
                <a:latin typeface="Calibri"/>
              </a:rPr>
              <a:t>•  Pastes it directly into the Copilot chat window</a:t>
            </a:r>
          </a:p>
        </p:txBody>
      </p:sp>
      <p:sp>
        <p:nvSpPr>
          <p:cNvPr id="16" name="TextBox 15"/>
          <p:cNvSpPr txBox="1"/>
          <p:nvPr/>
        </p:nvSpPr>
        <p:spPr>
          <a:xfrm>
            <a:off x="457200" y="3557016"/>
            <a:ext cx="5120640" cy="566928"/>
          </a:xfrm>
          <a:prstGeom prst="rect">
            <a:avLst/>
          </a:prstGeom>
          <a:noFill/>
        </p:spPr>
        <p:txBody>
          <a:bodyPr wrap="square">
            <a:spAutoFit/>
          </a:bodyPr>
          <a:lstStyle/>
          <a:p>
            <a:pPr algn="l"/>
            <a:r>
              <a:rPr sz="1100" b="0" i="0">
                <a:solidFill>
                  <a:srgbClr val="333333"/>
                </a:solidFill>
                <a:latin typeface="Calibri"/>
              </a:rPr>
              <a:t>•  No audit trail of what was shared or when</a:t>
            </a:r>
          </a:p>
        </p:txBody>
      </p:sp>
      <p:sp>
        <p:nvSpPr>
          <p:cNvPr id="17" name="TextBox 16"/>
          <p:cNvSpPr txBox="1"/>
          <p:nvPr/>
        </p:nvSpPr>
        <p:spPr>
          <a:xfrm>
            <a:off x="457200" y="4178808"/>
            <a:ext cx="5120640" cy="566928"/>
          </a:xfrm>
          <a:prstGeom prst="rect">
            <a:avLst/>
          </a:prstGeom>
          <a:noFill/>
        </p:spPr>
        <p:txBody>
          <a:bodyPr wrap="square">
            <a:spAutoFit/>
          </a:bodyPr>
          <a:lstStyle/>
          <a:p>
            <a:pPr algn="l"/>
            <a:r>
              <a:rPr sz="1100" b="0" i="0">
                <a:solidFill>
                  <a:srgbClr val="333333"/>
                </a:solidFill>
                <a:latin typeface="Calibri"/>
              </a:rPr>
              <a:t>•  Developer controls what gets sent — no filtering</a:t>
            </a:r>
          </a:p>
        </p:txBody>
      </p:sp>
      <p:sp>
        <p:nvSpPr>
          <p:cNvPr id="18" name="TextBox 17"/>
          <p:cNvSpPr txBox="1"/>
          <p:nvPr/>
        </p:nvSpPr>
        <p:spPr>
          <a:xfrm>
            <a:off x="457200" y="4800600"/>
            <a:ext cx="5120640" cy="566928"/>
          </a:xfrm>
          <a:prstGeom prst="rect">
            <a:avLst/>
          </a:prstGeom>
          <a:noFill/>
        </p:spPr>
        <p:txBody>
          <a:bodyPr wrap="square">
            <a:spAutoFit/>
          </a:bodyPr>
          <a:lstStyle/>
          <a:p>
            <a:pPr algn="l"/>
            <a:r>
              <a:rPr sz="1100" b="0" i="0">
                <a:solidFill>
                  <a:srgbClr val="333333"/>
                </a:solidFill>
                <a:latin typeface="Calibri"/>
              </a:rPr>
              <a:t>•  Already in use — deemed acceptable by the organisation</a:t>
            </a:r>
          </a:p>
        </p:txBody>
      </p:sp>
      <p:sp>
        <p:nvSpPr>
          <p:cNvPr id="19" name="Rectangle 18"/>
          <p:cNvSpPr/>
          <p:nvPr/>
        </p:nvSpPr>
        <p:spPr>
          <a:xfrm>
            <a:off x="6309360" y="1143000"/>
            <a:ext cx="5577840" cy="5120640"/>
          </a:xfrm>
          <a:prstGeom prst="rect">
            <a:avLst/>
          </a:prstGeom>
          <a:solidFill>
            <a:srgbClr val="FFFFFF"/>
          </a:solidFill>
          <a:ln w="15240">
            <a:solidFill>
              <a:srgbClr val="1A7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1143000"/>
            <a:ext cx="5577840" cy="43891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170432"/>
            <a:ext cx="5303520" cy="384048"/>
          </a:xfrm>
          <a:prstGeom prst="rect">
            <a:avLst/>
          </a:prstGeom>
          <a:noFill/>
        </p:spPr>
        <p:txBody>
          <a:bodyPr wrap="square">
            <a:spAutoFit/>
          </a:bodyPr>
          <a:lstStyle/>
          <a:p>
            <a:pPr algn="l"/>
            <a:r>
              <a:rPr sz="1400" b="1" i="0">
                <a:solidFill>
                  <a:srgbClr val="FFFFFF"/>
                </a:solidFill>
                <a:latin typeface="Calibri"/>
              </a:rPr>
              <a:t>THIS SOLUTION — Controlled Fetching</a:t>
            </a:r>
          </a:p>
        </p:txBody>
      </p:sp>
      <p:sp>
        <p:nvSpPr>
          <p:cNvPr id="22" name="TextBox 21"/>
          <p:cNvSpPr txBox="1"/>
          <p:nvPr/>
        </p:nvSpPr>
        <p:spPr>
          <a:xfrm>
            <a:off x="6492240" y="1691640"/>
            <a:ext cx="5257800" cy="566928"/>
          </a:xfrm>
          <a:prstGeom prst="rect">
            <a:avLst/>
          </a:prstGeom>
          <a:noFill/>
        </p:spPr>
        <p:txBody>
          <a:bodyPr wrap="square">
            <a:spAutoFit/>
          </a:bodyPr>
          <a:lstStyle/>
          <a:p>
            <a:pPr algn="l"/>
            <a:r>
              <a:rPr sz="1100" b="0" i="0">
                <a:solidFill>
                  <a:srgbClr val="333333"/>
                </a:solidFill>
                <a:latin typeface="Calibri"/>
              </a:rPr>
              <a:t>✅  Only the specific artifact needed to answer the question is fetched</a:t>
            </a:r>
          </a:p>
        </p:txBody>
      </p:sp>
      <p:sp>
        <p:nvSpPr>
          <p:cNvPr id="23" name="TextBox 22"/>
          <p:cNvSpPr txBox="1"/>
          <p:nvPr/>
        </p:nvSpPr>
        <p:spPr>
          <a:xfrm>
            <a:off x="6492240" y="2313432"/>
            <a:ext cx="5257800" cy="566928"/>
          </a:xfrm>
          <a:prstGeom prst="rect">
            <a:avLst/>
          </a:prstGeom>
          <a:noFill/>
        </p:spPr>
        <p:txBody>
          <a:bodyPr wrap="square">
            <a:spAutoFit/>
          </a:bodyPr>
          <a:lstStyle/>
          <a:p>
            <a:pPr algn="l"/>
            <a:r>
              <a:rPr sz="1100" b="0" i="0">
                <a:solidFill>
                  <a:srgbClr val="333333"/>
                </a:solidFill>
                <a:latin typeface="Calibri"/>
              </a:rPr>
              <a:t>✅  Full audit trail: every ADT call is logged in the SAP access log</a:t>
            </a:r>
          </a:p>
        </p:txBody>
      </p:sp>
      <p:sp>
        <p:nvSpPr>
          <p:cNvPr id="24" name="TextBox 23"/>
          <p:cNvSpPr txBox="1"/>
          <p:nvPr/>
        </p:nvSpPr>
        <p:spPr>
          <a:xfrm>
            <a:off x="6492240" y="2935224"/>
            <a:ext cx="5257800" cy="566928"/>
          </a:xfrm>
          <a:prstGeom prst="rect">
            <a:avLst/>
          </a:prstGeom>
          <a:noFill/>
        </p:spPr>
        <p:txBody>
          <a:bodyPr wrap="square">
            <a:spAutoFit/>
          </a:bodyPr>
          <a:lstStyle/>
          <a:p>
            <a:pPr algn="l"/>
            <a:r>
              <a:rPr sz="1100" b="0" i="0">
                <a:solidFill>
                  <a:srgbClr val="333333"/>
                </a:solidFill>
                <a:latin typeface="Calibri"/>
              </a:rPr>
              <a:t>✅  No copy-paste — developer does not manually handle source code</a:t>
            </a:r>
          </a:p>
        </p:txBody>
      </p:sp>
      <p:sp>
        <p:nvSpPr>
          <p:cNvPr id="25" name="TextBox 24"/>
          <p:cNvSpPr txBox="1"/>
          <p:nvPr/>
        </p:nvSpPr>
        <p:spPr>
          <a:xfrm>
            <a:off x="6492240" y="3557016"/>
            <a:ext cx="5257800" cy="566928"/>
          </a:xfrm>
          <a:prstGeom prst="rect">
            <a:avLst/>
          </a:prstGeom>
          <a:noFill/>
        </p:spPr>
        <p:txBody>
          <a:bodyPr wrap="square">
            <a:spAutoFit/>
          </a:bodyPr>
          <a:lstStyle/>
          <a:p>
            <a:pPr algn="l"/>
            <a:r>
              <a:rPr sz="1100" b="0" i="0">
                <a:solidFill>
                  <a:srgbClr val="333333"/>
                </a:solidFill>
                <a:latin typeface="Calibri"/>
              </a:rPr>
              <a:t>✅  Server only fetches what the tool is explicitly programmed to fetch</a:t>
            </a:r>
          </a:p>
        </p:txBody>
      </p:sp>
      <p:sp>
        <p:nvSpPr>
          <p:cNvPr id="26" name="TextBox 25"/>
          <p:cNvSpPr txBox="1"/>
          <p:nvPr/>
        </p:nvSpPr>
        <p:spPr>
          <a:xfrm>
            <a:off x="6492240" y="4178808"/>
            <a:ext cx="5257800" cy="566928"/>
          </a:xfrm>
          <a:prstGeom prst="rect">
            <a:avLst/>
          </a:prstGeom>
          <a:noFill/>
        </p:spPr>
        <p:txBody>
          <a:bodyPr wrap="square">
            <a:spAutoFit/>
          </a:bodyPr>
          <a:lstStyle/>
          <a:p>
            <a:pPr algn="l"/>
            <a:r>
              <a:rPr sz="1100" b="0" i="0">
                <a:solidFill>
                  <a:srgbClr val="333333"/>
                </a:solidFill>
                <a:latin typeface="Calibri"/>
              </a:rPr>
              <a:t>✅  SSPI auth ties every request to a named Windows identity</a:t>
            </a:r>
          </a:p>
        </p:txBody>
      </p:sp>
      <p:sp>
        <p:nvSpPr>
          <p:cNvPr id="27" name="TextBox 26"/>
          <p:cNvSpPr txBox="1"/>
          <p:nvPr/>
        </p:nvSpPr>
        <p:spPr>
          <a:xfrm>
            <a:off x="6492240" y="4800600"/>
            <a:ext cx="5257800" cy="566928"/>
          </a:xfrm>
          <a:prstGeom prst="rect">
            <a:avLst/>
          </a:prstGeom>
          <a:noFill/>
        </p:spPr>
        <p:txBody>
          <a:bodyPr wrap="square">
            <a:spAutoFit/>
          </a:bodyPr>
          <a:lstStyle/>
          <a:p>
            <a:pPr algn="l"/>
            <a:r>
              <a:rPr sz="1100" b="0" i="0">
                <a:solidFill>
                  <a:srgbClr val="333333"/>
                </a:solidFill>
                <a:latin typeface="Calibri"/>
              </a:rPr>
              <a:t>✅  Strictly more controlled than today's manual approach</a:t>
            </a:r>
          </a:p>
        </p:txBody>
      </p:sp>
      <p:sp>
        <p:nvSpPr>
          <p:cNvPr id="28" name="TextBox 27"/>
          <p:cNvSpPr txBox="1"/>
          <p:nvPr/>
        </p:nvSpPr>
        <p:spPr>
          <a:xfrm>
            <a:off x="274320" y="6400800"/>
            <a:ext cx="11612880" cy="365760"/>
          </a:xfrm>
          <a:prstGeom prst="rect">
            <a:avLst/>
          </a:prstGeom>
          <a:noFill/>
        </p:spPr>
        <p:txBody>
          <a:bodyPr wrap="square">
            <a:spAutoFit/>
          </a:bodyPr>
          <a:lstStyle/>
          <a:p>
            <a:pPr algn="ctr"/>
            <a:r>
              <a:rPr sz="1200" b="1" i="1">
                <a:solidFill>
                  <a:srgbClr val="00275A"/>
                </a:solidFill>
                <a:latin typeface="Calibri"/>
              </a:rPr>
              <a:t>Conclusion: If manual copy-paste is approved today, this automated,
audited, identity-bound approach carries equal or lower risk.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What Can It Do?</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13 developer capabilities — all from a plain English question</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7 / 11</a:t>
            </a:r>
          </a:p>
        </p:txBody>
      </p:sp>
      <p:sp>
        <p:nvSpPr>
          <p:cNvPr id="10" name="Rectangle 9"/>
          <p:cNvSpPr/>
          <p:nvPr/>
        </p:nvSpPr>
        <p:spPr>
          <a:xfrm>
            <a:off x="228600" y="11887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1887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 y="1298448"/>
            <a:ext cx="2651760" cy="347472"/>
          </a:xfrm>
          <a:prstGeom prst="rect">
            <a:avLst/>
          </a:prstGeom>
          <a:noFill/>
        </p:spPr>
        <p:txBody>
          <a:bodyPr wrap="square">
            <a:spAutoFit/>
          </a:bodyPr>
          <a:lstStyle/>
          <a:p>
            <a:pPr algn="l"/>
            <a:r>
              <a:rPr sz="1300" b="1" i="0">
                <a:solidFill>
                  <a:srgbClr val="00275A"/>
                </a:solidFill>
                <a:latin typeface="Calibri"/>
              </a:rPr>
              <a:t>📋  Code Review</a:t>
            </a:r>
          </a:p>
        </p:txBody>
      </p:sp>
      <p:sp>
        <p:nvSpPr>
          <p:cNvPr id="13" name="TextBox 12"/>
          <p:cNvSpPr txBox="1"/>
          <p:nvPr/>
        </p:nvSpPr>
        <p:spPr>
          <a:xfrm>
            <a:off x="338328" y="1691640"/>
            <a:ext cx="2633472" cy="1097280"/>
          </a:xfrm>
          <a:prstGeom prst="rect">
            <a:avLst/>
          </a:prstGeom>
          <a:noFill/>
        </p:spPr>
        <p:txBody>
          <a:bodyPr wrap="square">
            <a:spAutoFit/>
          </a:bodyPr>
          <a:lstStyle/>
          <a:p>
            <a:pPr algn="l"/>
            <a:r>
              <a:rPr sz="1100" b="0" i="0">
                <a:solidFill>
                  <a:srgbClr val="333333"/>
                </a:solidFill>
                <a:latin typeface="Calibri"/>
              </a:rPr>
              <a:t>Checks Mod Log headers, direct
table SELECTs, coding standards</a:t>
            </a:r>
          </a:p>
        </p:txBody>
      </p:sp>
      <p:sp>
        <p:nvSpPr>
          <p:cNvPr id="14" name="Rectangle 13"/>
          <p:cNvSpPr/>
          <p:nvPr/>
        </p:nvSpPr>
        <p:spPr>
          <a:xfrm>
            <a:off x="3218688" y="11887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18688" y="11887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28416" y="1298448"/>
            <a:ext cx="2651760" cy="347472"/>
          </a:xfrm>
          <a:prstGeom prst="rect">
            <a:avLst/>
          </a:prstGeom>
          <a:noFill/>
        </p:spPr>
        <p:txBody>
          <a:bodyPr wrap="square">
            <a:spAutoFit/>
          </a:bodyPr>
          <a:lstStyle/>
          <a:p>
            <a:pPr algn="l"/>
            <a:r>
              <a:rPr sz="1300" b="1" i="0">
                <a:solidFill>
                  <a:srgbClr val="00275A"/>
                </a:solidFill>
                <a:latin typeface="Calibri"/>
              </a:rPr>
              <a:t>⚡  Performance Tuning</a:t>
            </a:r>
          </a:p>
        </p:txBody>
      </p:sp>
      <p:sp>
        <p:nvSpPr>
          <p:cNvPr id="17" name="TextBox 16"/>
          <p:cNvSpPr txBox="1"/>
          <p:nvPr/>
        </p:nvSpPr>
        <p:spPr>
          <a:xfrm>
            <a:off x="3328416" y="1691640"/>
            <a:ext cx="2633472" cy="1097280"/>
          </a:xfrm>
          <a:prstGeom prst="rect">
            <a:avLst/>
          </a:prstGeom>
          <a:noFill/>
        </p:spPr>
        <p:txBody>
          <a:bodyPr wrap="square">
            <a:spAutoFit/>
          </a:bodyPr>
          <a:lstStyle/>
          <a:p>
            <a:pPr algn="l"/>
            <a:r>
              <a:rPr sz="1100" b="0" i="0">
                <a:solidFill>
                  <a:srgbClr val="333333"/>
                </a:solidFill>
                <a:latin typeface="Calibri"/>
              </a:rPr>
              <a:t>Spots N+1 SELECTs, missing
WHERE clauses, loop inefficiencies</a:t>
            </a:r>
          </a:p>
        </p:txBody>
      </p:sp>
      <p:sp>
        <p:nvSpPr>
          <p:cNvPr id="18" name="Rectangle 17"/>
          <p:cNvSpPr/>
          <p:nvPr/>
        </p:nvSpPr>
        <p:spPr>
          <a:xfrm>
            <a:off x="6208776" y="11887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11887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8504" y="1298448"/>
            <a:ext cx="2651760" cy="347472"/>
          </a:xfrm>
          <a:prstGeom prst="rect">
            <a:avLst/>
          </a:prstGeom>
          <a:noFill/>
        </p:spPr>
        <p:txBody>
          <a:bodyPr wrap="square">
            <a:spAutoFit/>
          </a:bodyPr>
          <a:lstStyle/>
          <a:p>
            <a:pPr algn="l"/>
            <a:r>
              <a:rPr sz="1300" b="1" i="0">
                <a:solidFill>
                  <a:srgbClr val="00275A"/>
                </a:solidFill>
                <a:latin typeface="Calibri"/>
              </a:rPr>
              <a:t>📖  Auto Documentation</a:t>
            </a:r>
          </a:p>
        </p:txBody>
      </p:sp>
      <p:sp>
        <p:nvSpPr>
          <p:cNvPr id="21" name="TextBox 20"/>
          <p:cNvSpPr txBox="1"/>
          <p:nvPr/>
        </p:nvSpPr>
        <p:spPr>
          <a:xfrm>
            <a:off x="6318504" y="1691640"/>
            <a:ext cx="2633472" cy="1097280"/>
          </a:xfrm>
          <a:prstGeom prst="rect">
            <a:avLst/>
          </a:prstGeom>
          <a:noFill/>
        </p:spPr>
        <p:txBody>
          <a:bodyPr wrap="square">
            <a:spAutoFit/>
          </a:bodyPr>
          <a:lstStyle/>
          <a:p>
            <a:pPr algn="l"/>
            <a:r>
              <a:rPr sz="1100" b="0" i="0">
                <a:solidFill>
                  <a:srgbClr val="333333"/>
                </a:solidFill>
                <a:latin typeface="Calibri"/>
              </a:rPr>
              <a:t>Explains any class, FM, program
or package in plain English</a:t>
            </a:r>
          </a:p>
        </p:txBody>
      </p:sp>
      <p:sp>
        <p:nvSpPr>
          <p:cNvPr id="22" name="Rectangle 21"/>
          <p:cNvSpPr/>
          <p:nvPr/>
        </p:nvSpPr>
        <p:spPr>
          <a:xfrm>
            <a:off x="9198864" y="11887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98864" y="11887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08592" y="1298448"/>
            <a:ext cx="2651760" cy="347472"/>
          </a:xfrm>
          <a:prstGeom prst="rect">
            <a:avLst/>
          </a:prstGeom>
          <a:noFill/>
        </p:spPr>
        <p:txBody>
          <a:bodyPr wrap="square">
            <a:spAutoFit/>
          </a:bodyPr>
          <a:lstStyle/>
          <a:p>
            <a:pPr algn="l"/>
            <a:r>
              <a:rPr sz="1300" b="1" i="0">
                <a:solidFill>
                  <a:srgbClr val="00275A"/>
                </a:solidFill>
                <a:latin typeface="Calibri"/>
              </a:rPr>
              <a:t>🧪  Unit Test Creation</a:t>
            </a:r>
          </a:p>
        </p:txBody>
      </p:sp>
      <p:sp>
        <p:nvSpPr>
          <p:cNvPr id="25" name="TextBox 24"/>
          <p:cNvSpPr txBox="1"/>
          <p:nvPr/>
        </p:nvSpPr>
        <p:spPr>
          <a:xfrm>
            <a:off x="9308592" y="1691640"/>
            <a:ext cx="2633472" cy="1097280"/>
          </a:xfrm>
          <a:prstGeom prst="rect">
            <a:avLst/>
          </a:prstGeom>
          <a:noFill/>
        </p:spPr>
        <p:txBody>
          <a:bodyPr wrap="square">
            <a:spAutoFit/>
          </a:bodyPr>
          <a:lstStyle/>
          <a:p>
            <a:pPr algn="l"/>
            <a:r>
              <a:rPr sz="1100" b="0" i="0">
                <a:solidFill>
                  <a:srgbClr val="333333"/>
                </a:solidFill>
                <a:latin typeface="Calibri"/>
              </a:rPr>
              <a:t>Generates SE38-ready ABAP unit
test code with edge cases</a:t>
            </a:r>
          </a:p>
        </p:txBody>
      </p:sp>
      <p:sp>
        <p:nvSpPr>
          <p:cNvPr id="26" name="Rectangle 25"/>
          <p:cNvSpPr/>
          <p:nvPr/>
        </p:nvSpPr>
        <p:spPr>
          <a:xfrm>
            <a:off x="228600" y="30175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30175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 y="3127248"/>
            <a:ext cx="2651760" cy="347472"/>
          </a:xfrm>
          <a:prstGeom prst="rect">
            <a:avLst/>
          </a:prstGeom>
          <a:noFill/>
        </p:spPr>
        <p:txBody>
          <a:bodyPr wrap="square">
            <a:spAutoFit/>
          </a:bodyPr>
          <a:lstStyle/>
          <a:p>
            <a:pPr algn="l"/>
            <a:r>
              <a:rPr sz="1300" b="1" i="0">
                <a:solidFill>
                  <a:srgbClr val="00275A"/>
                </a:solidFill>
                <a:latin typeface="Calibri"/>
              </a:rPr>
              <a:t>🔌  Enhancement Finder</a:t>
            </a:r>
          </a:p>
        </p:txBody>
      </p:sp>
      <p:sp>
        <p:nvSpPr>
          <p:cNvPr id="29" name="TextBox 28"/>
          <p:cNvSpPr txBox="1"/>
          <p:nvPr/>
        </p:nvSpPr>
        <p:spPr>
          <a:xfrm>
            <a:off x="338328" y="3520439"/>
            <a:ext cx="2633472" cy="1097280"/>
          </a:xfrm>
          <a:prstGeom prst="rect">
            <a:avLst/>
          </a:prstGeom>
          <a:noFill/>
        </p:spPr>
        <p:txBody>
          <a:bodyPr wrap="square">
            <a:spAutoFit/>
          </a:bodyPr>
          <a:lstStyle/>
          <a:p>
            <a:pPr algn="l"/>
            <a:r>
              <a:rPr sz="1100" b="0" i="0">
                <a:solidFill>
                  <a:srgbClr val="333333"/>
                </a:solidFill>
                <a:latin typeface="Calibri"/>
              </a:rPr>
              <a:t>Finds the right BAPI, BADI, Exit,
BTE or OData for any scenario</a:t>
            </a:r>
          </a:p>
        </p:txBody>
      </p:sp>
      <p:sp>
        <p:nvSpPr>
          <p:cNvPr id="30" name="Rectangle 29"/>
          <p:cNvSpPr/>
          <p:nvPr/>
        </p:nvSpPr>
        <p:spPr>
          <a:xfrm>
            <a:off x="3218688" y="30175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18688" y="30175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28416" y="3127248"/>
            <a:ext cx="2651760" cy="347472"/>
          </a:xfrm>
          <a:prstGeom prst="rect">
            <a:avLst/>
          </a:prstGeom>
          <a:noFill/>
        </p:spPr>
        <p:txBody>
          <a:bodyPr wrap="square">
            <a:spAutoFit/>
          </a:bodyPr>
          <a:lstStyle/>
          <a:p>
            <a:pPr algn="l"/>
            <a:r>
              <a:rPr sz="1300" b="1" i="0">
                <a:solidFill>
                  <a:srgbClr val="00275A"/>
                </a:solidFill>
                <a:latin typeface="Calibri"/>
              </a:rPr>
              <a:t>📋  BAPI Parameters</a:t>
            </a:r>
          </a:p>
        </p:txBody>
      </p:sp>
      <p:sp>
        <p:nvSpPr>
          <p:cNvPr id="33" name="TextBox 32"/>
          <p:cNvSpPr txBox="1"/>
          <p:nvPr/>
        </p:nvSpPr>
        <p:spPr>
          <a:xfrm>
            <a:off x="3328416" y="3520439"/>
            <a:ext cx="2633472" cy="1097280"/>
          </a:xfrm>
          <a:prstGeom prst="rect">
            <a:avLst/>
          </a:prstGeom>
          <a:noFill/>
        </p:spPr>
        <p:txBody>
          <a:bodyPr wrap="square">
            <a:spAutoFit/>
          </a:bodyPr>
          <a:lstStyle/>
          <a:p>
            <a:pPr algn="l"/>
            <a:r>
              <a:rPr sz="1100" b="0" i="0">
                <a:solidFill>
                  <a:srgbClr val="333333"/>
                </a:solidFill>
                <a:latin typeface="Calibri"/>
              </a:rPr>
              <a:t>Lists all parameters of any BAPI
with mandatory/optional flags</a:t>
            </a:r>
          </a:p>
        </p:txBody>
      </p:sp>
      <p:sp>
        <p:nvSpPr>
          <p:cNvPr id="34" name="Rectangle 33"/>
          <p:cNvSpPr/>
          <p:nvPr/>
        </p:nvSpPr>
        <p:spPr>
          <a:xfrm>
            <a:off x="6208776" y="30175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08776" y="30175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18504" y="3127248"/>
            <a:ext cx="2651760" cy="347472"/>
          </a:xfrm>
          <a:prstGeom prst="rect">
            <a:avLst/>
          </a:prstGeom>
          <a:noFill/>
        </p:spPr>
        <p:txBody>
          <a:bodyPr wrap="square">
            <a:spAutoFit/>
          </a:bodyPr>
          <a:lstStyle/>
          <a:p>
            <a:pPr algn="l"/>
            <a:r>
              <a:rPr sz="1300" b="1" i="0">
                <a:solidFill>
                  <a:srgbClr val="00275A"/>
                </a:solidFill>
                <a:latin typeface="Calibri"/>
              </a:rPr>
              <a:t>♻️  Reusable Artifacts</a:t>
            </a:r>
          </a:p>
        </p:txBody>
      </p:sp>
      <p:sp>
        <p:nvSpPr>
          <p:cNvPr id="37" name="TextBox 36"/>
          <p:cNvSpPr txBox="1"/>
          <p:nvPr/>
        </p:nvSpPr>
        <p:spPr>
          <a:xfrm>
            <a:off x="6318504" y="3520439"/>
            <a:ext cx="2633472" cy="1097280"/>
          </a:xfrm>
          <a:prstGeom prst="rect">
            <a:avLst/>
          </a:prstGeom>
          <a:noFill/>
        </p:spPr>
        <p:txBody>
          <a:bodyPr wrap="square">
            <a:spAutoFit/>
          </a:bodyPr>
          <a:lstStyle/>
          <a:p>
            <a:pPr algn="l"/>
            <a:r>
              <a:rPr sz="1100" b="0" i="0">
                <a:solidFill>
                  <a:srgbClr val="333333"/>
                </a:solidFill>
                <a:latin typeface="Calibri"/>
              </a:rPr>
              <a:t>Searches internal catalog to avoid
duplicate development</a:t>
            </a:r>
          </a:p>
        </p:txBody>
      </p:sp>
      <p:sp>
        <p:nvSpPr>
          <p:cNvPr id="38" name="Rectangle 37"/>
          <p:cNvSpPr/>
          <p:nvPr/>
        </p:nvSpPr>
        <p:spPr>
          <a:xfrm>
            <a:off x="9198864" y="30175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98864" y="30175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08592" y="3127248"/>
            <a:ext cx="2651760" cy="347472"/>
          </a:xfrm>
          <a:prstGeom prst="rect">
            <a:avLst/>
          </a:prstGeom>
          <a:noFill/>
        </p:spPr>
        <p:txBody>
          <a:bodyPr wrap="square">
            <a:spAutoFit/>
          </a:bodyPr>
          <a:lstStyle/>
          <a:p>
            <a:pPr algn="l"/>
            <a:r>
              <a:rPr sz="1300" b="1" i="0">
                <a:solidFill>
                  <a:srgbClr val="00275A"/>
                </a:solidFill>
                <a:latin typeface="Calibri"/>
              </a:rPr>
              <a:t>💥  Impact Analyzer</a:t>
            </a:r>
          </a:p>
        </p:txBody>
      </p:sp>
      <p:sp>
        <p:nvSpPr>
          <p:cNvPr id="41" name="TextBox 40"/>
          <p:cNvSpPr txBox="1"/>
          <p:nvPr/>
        </p:nvSpPr>
        <p:spPr>
          <a:xfrm>
            <a:off x="9308592" y="3520439"/>
            <a:ext cx="2633472" cy="1097280"/>
          </a:xfrm>
          <a:prstGeom prst="rect">
            <a:avLst/>
          </a:prstGeom>
          <a:noFill/>
        </p:spPr>
        <p:txBody>
          <a:bodyPr wrap="square">
            <a:spAutoFit/>
          </a:bodyPr>
          <a:lstStyle/>
          <a:p>
            <a:pPr algn="l"/>
            <a:r>
              <a:rPr sz="1100" b="0" i="0">
                <a:solidFill>
                  <a:srgbClr val="333333"/>
                </a:solidFill>
                <a:latin typeface="Calibri"/>
              </a:rPr>
              <a:t>Blast-radius report before
changing any shared object</a:t>
            </a:r>
          </a:p>
        </p:txBody>
      </p:sp>
      <p:sp>
        <p:nvSpPr>
          <p:cNvPr id="42" name="Rectangle 41"/>
          <p:cNvSpPr/>
          <p:nvPr/>
        </p:nvSpPr>
        <p:spPr>
          <a:xfrm>
            <a:off x="228600" y="48463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28600" y="48463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8328" y="4956048"/>
            <a:ext cx="2651760" cy="347472"/>
          </a:xfrm>
          <a:prstGeom prst="rect">
            <a:avLst/>
          </a:prstGeom>
          <a:noFill/>
        </p:spPr>
        <p:txBody>
          <a:bodyPr wrap="square">
            <a:spAutoFit/>
          </a:bodyPr>
          <a:lstStyle/>
          <a:p>
            <a:pPr algn="l"/>
            <a:r>
              <a:rPr sz="1300" b="1" i="0">
                <a:solidFill>
                  <a:srgbClr val="00275A"/>
                </a:solidFill>
                <a:latin typeface="Calibri"/>
              </a:rPr>
              <a:t>🔎  Where-Used List</a:t>
            </a:r>
          </a:p>
        </p:txBody>
      </p:sp>
      <p:sp>
        <p:nvSpPr>
          <p:cNvPr id="45" name="TextBox 44"/>
          <p:cNvSpPr txBox="1"/>
          <p:nvPr/>
        </p:nvSpPr>
        <p:spPr>
          <a:xfrm>
            <a:off x="338328" y="5349240"/>
            <a:ext cx="2633472" cy="1097280"/>
          </a:xfrm>
          <a:prstGeom prst="rect">
            <a:avLst/>
          </a:prstGeom>
          <a:noFill/>
        </p:spPr>
        <p:txBody>
          <a:bodyPr wrap="square">
            <a:spAutoFit/>
          </a:bodyPr>
          <a:lstStyle/>
          <a:p>
            <a:pPr algn="l"/>
            <a:r>
              <a:rPr sz="1100" b="0" i="0">
                <a:solidFill>
                  <a:srgbClr val="333333"/>
                </a:solidFill>
                <a:latin typeface="Calibri"/>
              </a:rPr>
              <a:t>Full cross-system usage lookup
for any ABAP object</a:t>
            </a:r>
          </a:p>
        </p:txBody>
      </p:sp>
      <p:sp>
        <p:nvSpPr>
          <p:cNvPr id="46" name="Rectangle 45"/>
          <p:cNvSpPr/>
          <p:nvPr/>
        </p:nvSpPr>
        <p:spPr>
          <a:xfrm>
            <a:off x="3218688" y="48463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18688" y="48463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28416" y="4956048"/>
            <a:ext cx="2651760" cy="347472"/>
          </a:xfrm>
          <a:prstGeom prst="rect">
            <a:avLst/>
          </a:prstGeom>
          <a:noFill/>
        </p:spPr>
        <p:txBody>
          <a:bodyPr wrap="square">
            <a:spAutoFit/>
          </a:bodyPr>
          <a:lstStyle/>
          <a:p>
            <a:pPr algn="l"/>
            <a:r>
              <a:rPr sz="1300" b="1" i="0">
                <a:solidFill>
                  <a:srgbClr val="00275A"/>
                </a:solidFill>
                <a:latin typeface="Calibri"/>
              </a:rPr>
              <a:t>🚦  TR Sequence Checker</a:t>
            </a:r>
          </a:p>
        </p:txBody>
      </p:sp>
      <p:sp>
        <p:nvSpPr>
          <p:cNvPr id="49" name="TextBox 48"/>
          <p:cNvSpPr txBox="1"/>
          <p:nvPr/>
        </p:nvSpPr>
        <p:spPr>
          <a:xfrm>
            <a:off x="3328416" y="5349240"/>
            <a:ext cx="2633472" cy="1097280"/>
          </a:xfrm>
          <a:prstGeom prst="rect">
            <a:avLst/>
          </a:prstGeom>
          <a:noFill/>
        </p:spPr>
        <p:txBody>
          <a:bodyPr wrap="square">
            <a:spAutoFit/>
          </a:bodyPr>
          <a:lstStyle/>
          <a:p>
            <a:pPr algn="l"/>
            <a:r>
              <a:rPr sz="1100" b="0" i="0">
                <a:solidFill>
                  <a:srgbClr val="333333"/>
                </a:solidFill>
                <a:latin typeface="Calibri"/>
              </a:rPr>
              <a:t>Go/no-go verdict before releasing
a transport to Quality or Prod</a:t>
            </a:r>
          </a:p>
        </p:txBody>
      </p:sp>
      <p:sp>
        <p:nvSpPr>
          <p:cNvPr id="50" name="Rectangle 49"/>
          <p:cNvSpPr/>
          <p:nvPr/>
        </p:nvSpPr>
        <p:spPr>
          <a:xfrm>
            <a:off x="6208776" y="48463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08776" y="48463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18504" y="4956048"/>
            <a:ext cx="2651760" cy="347472"/>
          </a:xfrm>
          <a:prstGeom prst="rect">
            <a:avLst/>
          </a:prstGeom>
          <a:noFill/>
        </p:spPr>
        <p:txBody>
          <a:bodyPr wrap="square">
            <a:spAutoFit/>
          </a:bodyPr>
          <a:lstStyle/>
          <a:p>
            <a:pPr algn="l"/>
            <a:r>
              <a:rPr sz="1300" b="1" i="0">
                <a:solidFill>
                  <a:srgbClr val="00275A"/>
                </a:solidFill>
                <a:latin typeface="Calibri"/>
              </a:rPr>
              <a:t>🔄  CDS Cross-System Diff</a:t>
            </a:r>
          </a:p>
        </p:txBody>
      </p:sp>
      <p:sp>
        <p:nvSpPr>
          <p:cNvPr id="53" name="TextBox 52"/>
          <p:cNvSpPr txBox="1"/>
          <p:nvPr/>
        </p:nvSpPr>
        <p:spPr>
          <a:xfrm>
            <a:off x="6318504" y="5349240"/>
            <a:ext cx="2633472" cy="1097280"/>
          </a:xfrm>
          <a:prstGeom prst="rect">
            <a:avLst/>
          </a:prstGeom>
          <a:noFill/>
        </p:spPr>
        <p:txBody>
          <a:bodyPr wrap="square">
            <a:spAutoFit/>
          </a:bodyPr>
          <a:lstStyle/>
          <a:p>
            <a:pPr algn="l"/>
            <a:r>
              <a:rPr sz="1100" b="0" i="0">
                <a:solidFill>
                  <a:srgbClr val="333333"/>
                </a:solidFill>
                <a:latin typeface="Calibri"/>
              </a:rPr>
              <a:t>Compares CDS view DDL between
D59, K59 and S59 instantly</a:t>
            </a:r>
          </a:p>
        </p:txBody>
      </p:sp>
      <p:sp>
        <p:nvSpPr>
          <p:cNvPr id="54" name="Rectangle 53"/>
          <p:cNvSpPr/>
          <p:nvPr/>
        </p:nvSpPr>
        <p:spPr>
          <a:xfrm>
            <a:off x="9198864" y="4846320"/>
            <a:ext cx="2834640" cy="1691640"/>
          </a:xfrm>
          <a:prstGeom prst="rect">
            <a:avLst/>
          </a:prstGeom>
          <a:solidFill>
            <a:srgbClr val="F4F6F9"/>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98864" y="4846320"/>
            <a:ext cx="2834640" cy="64008"/>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08592" y="4956048"/>
            <a:ext cx="2651760" cy="347472"/>
          </a:xfrm>
          <a:prstGeom prst="rect">
            <a:avLst/>
          </a:prstGeom>
          <a:noFill/>
        </p:spPr>
        <p:txBody>
          <a:bodyPr wrap="square">
            <a:spAutoFit/>
          </a:bodyPr>
          <a:lstStyle/>
          <a:p>
            <a:pPr algn="l"/>
            <a:r>
              <a:rPr sz="1300" b="1" i="0">
                <a:solidFill>
                  <a:srgbClr val="00275A"/>
                </a:solidFill>
                <a:latin typeface="Calibri"/>
              </a:rPr>
              <a:t>📊  Live Data Assistant</a:t>
            </a:r>
          </a:p>
        </p:txBody>
      </p:sp>
      <p:sp>
        <p:nvSpPr>
          <p:cNvPr id="57" name="TextBox 56"/>
          <p:cNvSpPr txBox="1"/>
          <p:nvPr/>
        </p:nvSpPr>
        <p:spPr>
          <a:xfrm>
            <a:off x="9308592" y="5349240"/>
            <a:ext cx="2633472" cy="1097280"/>
          </a:xfrm>
          <a:prstGeom prst="rect">
            <a:avLst/>
          </a:prstGeom>
          <a:noFill/>
        </p:spPr>
        <p:txBody>
          <a:bodyPr wrap="square">
            <a:spAutoFit/>
          </a:bodyPr>
          <a:lstStyle/>
          <a:p>
            <a:pPr algn="l"/>
            <a:r>
              <a:rPr sz="1100" b="0" i="0">
                <a:solidFill>
                  <a:srgbClr val="333333"/>
                </a:solidFill>
                <a:latin typeface="Calibri"/>
              </a:rPr>
              <a:t>Answers functional data questions
using live SAP table contents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Selected Demo Questions</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Real questions — answered live from the SAP system</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8 / 11</a:t>
            </a:r>
          </a:p>
        </p:txBody>
      </p:sp>
      <p:sp>
        <p:nvSpPr>
          <p:cNvPr id="10" name="Rectangle 9"/>
          <p:cNvSpPr/>
          <p:nvPr/>
        </p:nvSpPr>
        <p:spPr>
          <a:xfrm>
            <a:off x="274320" y="1188720"/>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188720"/>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43584"/>
            <a:ext cx="2286000" cy="274320"/>
          </a:xfrm>
          <a:prstGeom prst="rect">
            <a:avLst/>
          </a:prstGeom>
          <a:noFill/>
        </p:spPr>
        <p:txBody>
          <a:bodyPr wrap="square">
            <a:spAutoFit/>
          </a:bodyPr>
          <a:lstStyle/>
          <a:p>
            <a:pPr algn="l"/>
            <a:r>
              <a:rPr sz="1000" b="1" i="0">
                <a:solidFill>
                  <a:srgbClr val="00275A"/>
                </a:solidFill>
                <a:latin typeface="Calibri"/>
              </a:rPr>
              <a:t>Code Quality</a:t>
            </a:r>
          </a:p>
        </p:txBody>
      </p:sp>
      <p:sp>
        <p:nvSpPr>
          <p:cNvPr id="13" name="TextBox 12"/>
          <p:cNvSpPr txBox="1"/>
          <p:nvPr/>
        </p:nvSpPr>
        <p:spPr>
          <a:xfrm>
            <a:off x="457200" y="1536192"/>
            <a:ext cx="5486400" cy="804672"/>
          </a:xfrm>
          <a:prstGeom prst="rect">
            <a:avLst/>
          </a:prstGeom>
          <a:noFill/>
        </p:spPr>
        <p:txBody>
          <a:bodyPr wrap="square">
            <a:spAutoFit/>
          </a:bodyPr>
          <a:lstStyle/>
          <a:p>
            <a:pPr algn="l"/>
            <a:r>
              <a:rPr sz="950" b="0" i="1">
                <a:solidFill>
                  <a:srgbClr val="333333"/>
                </a:solidFill>
                <a:latin typeface="Calibri"/>
              </a:rPr>
              <a:t>"Review class /SHL/CL_FLOG_MMR_DYN_UPDATE — does it follow our coding standards?
Check for missing Mod Log header and any direct table SELECT statements."</a:t>
            </a:r>
          </a:p>
        </p:txBody>
      </p:sp>
      <p:sp>
        <p:nvSpPr>
          <p:cNvPr id="14" name="Rectangle 13"/>
          <p:cNvSpPr/>
          <p:nvPr/>
        </p:nvSpPr>
        <p:spPr>
          <a:xfrm>
            <a:off x="6309359" y="1188720"/>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59" y="1188720"/>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243584"/>
            <a:ext cx="2286000" cy="274320"/>
          </a:xfrm>
          <a:prstGeom prst="rect">
            <a:avLst/>
          </a:prstGeom>
          <a:noFill/>
        </p:spPr>
        <p:txBody>
          <a:bodyPr wrap="square">
            <a:spAutoFit/>
          </a:bodyPr>
          <a:lstStyle/>
          <a:p>
            <a:pPr algn="l"/>
            <a:r>
              <a:rPr sz="1000" b="1" i="0">
                <a:solidFill>
                  <a:srgbClr val="00275A"/>
                </a:solidFill>
                <a:latin typeface="Calibri"/>
              </a:rPr>
              <a:t>Documentation</a:t>
            </a:r>
          </a:p>
        </p:txBody>
      </p:sp>
      <p:sp>
        <p:nvSpPr>
          <p:cNvPr id="17" name="TextBox 16"/>
          <p:cNvSpPr txBox="1"/>
          <p:nvPr/>
        </p:nvSpPr>
        <p:spPr>
          <a:xfrm>
            <a:off x="6492240" y="1536192"/>
            <a:ext cx="5486400" cy="804672"/>
          </a:xfrm>
          <a:prstGeom prst="rect">
            <a:avLst/>
          </a:prstGeom>
          <a:noFill/>
        </p:spPr>
        <p:txBody>
          <a:bodyPr wrap="square">
            <a:spAutoFit/>
          </a:bodyPr>
          <a:lstStyle/>
          <a:p>
            <a:pPr algn="l"/>
            <a:r>
              <a:rPr sz="950" b="0" i="1">
                <a:solidFill>
                  <a:srgbClr val="333333"/>
                </a:solidFill>
                <a:latin typeface="Calibri"/>
              </a:rPr>
              <a:t>"What does program /SHL/R_JVA_WCT do? Walk me through the business logic step by step."</a:t>
            </a:r>
          </a:p>
        </p:txBody>
      </p:sp>
      <p:sp>
        <p:nvSpPr>
          <p:cNvPr id="18" name="Rectangle 17"/>
          <p:cNvSpPr/>
          <p:nvPr/>
        </p:nvSpPr>
        <p:spPr>
          <a:xfrm>
            <a:off x="274320" y="2514600"/>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2514600"/>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569464"/>
            <a:ext cx="2286000" cy="274320"/>
          </a:xfrm>
          <a:prstGeom prst="rect">
            <a:avLst/>
          </a:prstGeom>
          <a:noFill/>
        </p:spPr>
        <p:txBody>
          <a:bodyPr wrap="square">
            <a:spAutoFit/>
          </a:bodyPr>
          <a:lstStyle/>
          <a:p>
            <a:pPr algn="l"/>
            <a:r>
              <a:rPr sz="1000" b="1" i="0">
                <a:solidFill>
                  <a:srgbClr val="00275A"/>
                </a:solidFill>
                <a:latin typeface="Calibri"/>
              </a:rPr>
              <a:t>Enhancement</a:t>
            </a:r>
          </a:p>
        </p:txBody>
      </p:sp>
      <p:sp>
        <p:nvSpPr>
          <p:cNvPr id="21" name="TextBox 20"/>
          <p:cNvSpPr txBox="1"/>
          <p:nvPr/>
        </p:nvSpPr>
        <p:spPr>
          <a:xfrm>
            <a:off x="457200" y="2862072"/>
            <a:ext cx="5486400" cy="804672"/>
          </a:xfrm>
          <a:prstGeom prst="rect">
            <a:avLst/>
          </a:prstGeom>
          <a:noFill/>
        </p:spPr>
        <p:txBody>
          <a:bodyPr wrap="square">
            <a:spAutoFit/>
          </a:bodyPr>
          <a:lstStyle/>
          <a:p>
            <a:pPr algn="l"/>
            <a:r>
              <a:rPr sz="950" b="0" i="1">
                <a:solidFill>
                  <a:srgbClr val="333333"/>
                </a:solidFill>
                <a:latin typeface="Calibri"/>
              </a:rPr>
              <a:t>"I need to trigger custom logic when a goods receipt is posted. Which BADI should I implement?"</a:t>
            </a:r>
          </a:p>
        </p:txBody>
      </p:sp>
      <p:sp>
        <p:nvSpPr>
          <p:cNvPr id="22" name="Rectangle 21"/>
          <p:cNvSpPr/>
          <p:nvPr/>
        </p:nvSpPr>
        <p:spPr>
          <a:xfrm>
            <a:off x="6309359" y="2514600"/>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59" y="2514600"/>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569464"/>
            <a:ext cx="2286000" cy="274320"/>
          </a:xfrm>
          <a:prstGeom prst="rect">
            <a:avLst/>
          </a:prstGeom>
          <a:noFill/>
        </p:spPr>
        <p:txBody>
          <a:bodyPr wrap="square">
            <a:spAutoFit/>
          </a:bodyPr>
          <a:lstStyle/>
          <a:p>
            <a:pPr algn="l"/>
            <a:r>
              <a:rPr sz="1000" b="1" i="0">
                <a:solidFill>
                  <a:srgbClr val="00275A"/>
                </a:solidFill>
                <a:latin typeface="Calibri"/>
              </a:rPr>
              <a:t>Impact Analysis</a:t>
            </a:r>
          </a:p>
        </p:txBody>
      </p:sp>
      <p:sp>
        <p:nvSpPr>
          <p:cNvPr id="25" name="TextBox 24"/>
          <p:cNvSpPr txBox="1"/>
          <p:nvPr/>
        </p:nvSpPr>
        <p:spPr>
          <a:xfrm>
            <a:off x="6492240" y="2862072"/>
            <a:ext cx="5486400" cy="804672"/>
          </a:xfrm>
          <a:prstGeom prst="rect">
            <a:avLst/>
          </a:prstGeom>
          <a:noFill/>
        </p:spPr>
        <p:txBody>
          <a:bodyPr wrap="square">
            <a:spAutoFit/>
          </a:bodyPr>
          <a:lstStyle/>
          <a:p>
            <a:pPr algn="l"/>
            <a:r>
              <a:rPr sz="950" b="0" i="1">
                <a:solidFill>
                  <a:srgbClr val="333333"/>
                </a:solidFill>
                <a:latin typeface="Calibri"/>
              </a:rPr>
              <a:t>"I'm about to change interface /SHL/IF_FIN_CONSTANTS_S1. What objects will be affected
across the system? What is the risk level?"</a:t>
            </a:r>
          </a:p>
        </p:txBody>
      </p:sp>
      <p:sp>
        <p:nvSpPr>
          <p:cNvPr id="26" name="Rectangle 25"/>
          <p:cNvSpPr/>
          <p:nvPr/>
        </p:nvSpPr>
        <p:spPr>
          <a:xfrm>
            <a:off x="274320" y="3840480"/>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840480"/>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895344"/>
            <a:ext cx="2286000" cy="274320"/>
          </a:xfrm>
          <a:prstGeom prst="rect">
            <a:avLst/>
          </a:prstGeom>
          <a:noFill/>
        </p:spPr>
        <p:txBody>
          <a:bodyPr wrap="square">
            <a:spAutoFit/>
          </a:bodyPr>
          <a:lstStyle/>
          <a:p>
            <a:pPr algn="l"/>
            <a:r>
              <a:rPr sz="1000" b="1" i="0">
                <a:solidFill>
                  <a:srgbClr val="00275A"/>
                </a:solidFill>
                <a:latin typeface="Calibri"/>
              </a:rPr>
              <a:t>TR Safety</a:t>
            </a:r>
          </a:p>
        </p:txBody>
      </p:sp>
      <p:sp>
        <p:nvSpPr>
          <p:cNvPr id="29" name="TextBox 28"/>
          <p:cNvSpPr txBox="1"/>
          <p:nvPr/>
        </p:nvSpPr>
        <p:spPr>
          <a:xfrm>
            <a:off x="457200" y="4187952"/>
            <a:ext cx="5486400" cy="804672"/>
          </a:xfrm>
          <a:prstGeom prst="rect">
            <a:avLst/>
          </a:prstGeom>
          <a:noFill/>
        </p:spPr>
        <p:txBody>
          <a:bodyPr wrap="square">
            <a:spAutoFit/>
          </a:bodyPr>
          <a:lstStyle/>
          <a:p>
            <a:pPr algn="l"/>
            <a:r>
              <a:rPr sz="950" b="0" i="1">
                <a:solidFill>
                  <a:srgbClr val="333333"/>
                </a:solidFill>
                <a:latin typeface="Calibri"/>
              </a:rPr>
              <a:t>"Is it safe to release transport D59K950005 to Quality system K59?
Check all its dependencies and tell me if anything will break."</a:t>
            </a:r>
          </a:p>
        </p:txBody>
      </p:sp>
      <p:sp>
        <p:nvSpPr>
          <p:cNvPr id="30" name="Rectangle 29"/>
          <p:cNvSpPr/>
          <p:nvPr/>
        </p:nvSpPr>
        <p:spPr>
          <a:xfrm>
            <a:off x="6309359" y="3840480"/>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09359" y="3840480"/>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3895344"/>
            <a:ext cx="2286000" cy="274320"/>
          </a:xfrm>
          <a:prstGeom prst="rect">
            <a:avLst/>
          </a:prstGeom>
          <a:noFill/>
        </p:spPr>
        <p:txBody>
          <a:bodyPr wrap="square">
            <a:spAutoFit/>
          </a:bodyPr>
          <a:lstStyle/>
          <a:p>
            <a:pPr algn="l"/>
            <a:r>
              <a:rPr sz="1000" b="1" i="0">
                <a:solidFill>
                  <a:srgbClr val="00275A"/>
                </a:solidFill>
                <a:latin typeface="Calibri"/>
              </a:rPr>
              <a:t>CDS Comparison</a:t>
            </a:r>
          </a:p>
        </p:txBody>
      </p:sp>
      <p:sp>
        <p:nvSpPr>
          <p:cNvPr id="33" name="TextBox 32"/>
          <p:cNvSpPr txBox="1"/>
          <p:nvPr/>
        </p:nvSpPr>
        <p:spPr>
          <a:xfrm>
            <a:off x="6492240" y="4187952"/>
            <a:ext cx="5486400" cy="804672"/>
          </a:xfrm>
          <a:prstGeom prst="rect">
            <a:avLst/>
          </a:prstGeom>
          <a:noFill/>
        </p:spPr>
        <p:txBody>
          <a:bodyPr wrap="square">
            <a:spAutoFit/>
          </a:bodyPr>
          <a:lstStyle/>
          <a:p>
            <a:pPr algn="l"/>
            <a:r>
              <a:rPr sz="950" b="0" i="1">
                <a:solidFill>
                  <a:srgbClr val="333333"/>
                </a:solidFill>
                <a:latin typeface="Calibri"/>
              </a:rPr>
              <a:t>"Compare CDS view /SHL/VH_SHPT_AUFK between D59 and K59 — are they identical,
or did some changes not get transported yet?"</a:t>
            </a:r>
          </a:p>
        </p:txBody>
      </p:sp>
      <p:sp>
        <p:nvSpPr>
          <p:cNvPr id="34" name="Rectangle 33"/>
          <p:cNvSpPr/>
          <p:nvPr/>
        </p:nvSpPr>
        <p:spPr>
          <a:xfrm>
            <a:off x="274320" y="5166359"/>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5166359"/>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221223"/>
            <a:ext cx="2286000" cy="274320"/>
          </a:xfrm>
          <a:prstGeom prst="rect">
            <a:avLst/>
          </a:prstGeom>
          <a:noFill/>
        </p:spPr>
        <p:txBody>
          <a:bodyPr wrap="square">
            <a:spAutoFit/>
          </a:bodyPr>
          <a:lstStyle/>
          <a:p>
            <a:pPr algn="l"/>
            <a:r>
              <a:rPr sz="1000" b="1" i="0">
                <a:solidFill>
                  <a:srgbClr val="00275A"/>
                </a:solidFill>
                <a:latin typeface="Calibri"/>
              </a:rPr>
              <a:t>Unit Tests</a:t>
            </a:r>
          </a:p>
        </p:txBody>
      </p:sp>
      <p:sp>
        <p:nvSpPr>
          <p:cNvPr id="37" name="TextBox 36"/>
          <p:cNvSpPr txBox="1"/>
          <p:nvPr/>
        </p:nvSpPr>
        <p:spPr>
          <a:xfrm>
            <a:off x="457200" y="5513831"/>
            <a:ext cx="5486400" cy="804672"/>
          </a:xfrm>
          <a:prstGeom prst="rect">
            <a:avLst/>
          </a:prstGeom>
          <a:noFill/>
        </p:spPr>
        <p:txBody>
          <a:bodyPr wrap="square">
            <a:spAutoFit/>
          </a:bodyPr>
          <a:lstStyle/>
          <a:p>
            <a:pPr algn="l"/>
            <a:r>
              <a:rPr sz="950" b="0" i="1">
                <a:solidFill>
                  <a:srgbClr val="333333"/>
                </a:solidFill>
                <a:latin typeface="Calibri"/>
              </a:rPr>
              <a:t>"Write ABAP unit tests for FM /SHL/FM_FLOG_CREATE_ADHOC — cover main logic paths
and edge cases. Make it SE38-ready."</a:t>
            </a:r>
          </a:p>
        </p:txBody>
      </p:sp>
      <p:sp>
        <p:nvSpPr>
          <p:cNvPr id="38" name="Rectangle 37"/>
          <p:cNvSpPr/>
          <p:nvPr/>
        </p:nvSpPr>
        <p:spPr>
          <a:xfrm>
            <a:off x="6309359" y="5166359"/>
            <a:ext cx="5760720" cy="1207008"/>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9359" y="5166359"/>
            <a:ext cx="73152" cy="1207008"/>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5221223"/>
            <a:ext cx="2286000" cy="274320"/>
          </a:xfrm>
          <a:prstGeom prst="rect">
            <a:avLst/>
          </a:prstGeom>
          <a:noFill/>
        </p:spPr>
        <p:txBody>
          <a:bodyPr wrap="square">
            <a:spAutoFit/>
          </a:bodyPr>
          <a:lstStyle/>
          <a:p>
            <a:pPr algn="l"/>
            <a:r>
              <a:rPr sz="1000" b="1" i="0">
                <a:solidFill>
                  <a:srgbClr val="00275A"/>
                </a:solidFill>
                <a:latin typeface="Calibri"/>
              </a:rPr>
              <a:t>End-to-End</a:t>
            </a:r>
          </a:p>
        </p:txBody>
      </p:sp>
      <p:sp>
        <p:nvSpPr>
          <p:cNvPr id="41" name="TextBox 40"/>
          <p:cNvSpPr txBox="1"/>
          <p:nvPr/>
        </p:nvSpPr>
        <p:spPr>
          <a:xfrm>
            <a:off x="6492240" y="5513831"/>
            <a:ext cx="5486400" cy="804672"/>
          </a:xfrm>
          <a:prstGeom prst="rect">
            <a:avLst/>
          </a:prstGeom>
          <a:noFill/>
        </p:spPr>
        <p:txBody>
          <a:bodyPr wrap="square">
            <a:spAutoFit/>
          </a:bodyPr>
          <a:lstStyle/>
          <a:p>
            <a:pPr algn="l"/>
            <a:r>
              <a:rPr sz="950" b="0" i="1">
                <a:solidFill>
                  <a:srgbClr val="333333"/>
                </a:solidFill>
                <a:latin typeface="Calibri"/>
              </a:rPr>
              <a:t>"I'm a new developer adding a custom check in the freight log process.
Find the right BADI, explain the existing FM, check its impact, generate a unit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Developer Productivity Impact</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Time saved per task — estimated based on current manual effort</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9 / 11</a:t>
            </a:r>
          </a:p>
        </p:txBody>
      </p:sp>
      <p:sp>
        <p:nvSpPr>
          <p:cNvPr id="10" name="Rectangle 9"/>
          <p:cNvSpPr/>
          <p:nvPr/>
        </p:nvSpPr>
        <p:spPr>
          <a:xfrm>
            <a:off x="365760" y="1188720"/>
            <a:ext cx="4974336" cy="402336"/>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243584"/>
            <a:ext cx="4864608" cy="310896"/>
          </a:xfrm>
          <a:prstGeom prst="rect">
            <a:avLst/>
          </a:prstGeom>
          <a:noFill/>
        </p:spPr>
        <p:txBody>
          <a:bodyPr wrap="square">
            <a:spAutoFit/>
          </a:bodyPr>
          <a:lstStyle/>
          <a:p>
            <a:pPr algn="ctr"/>
            <a:r>
              <a:rPr sz="1200" b="1" i="0">
                <a:solidFill>
                  <a:srgbClr val="FFFFFF"/>
                </a:solidFill>
                <a:latin typeface="Calibri"/>
              </a:rPr>
              <a:t>Developer Task</a:t>
            </a:r>
          </a:p>
        </p:txBody>
      </p:sp>
      <p:sp>
        <p:nvSpPr>
          <p:cNvPr id="12" name="Rectangle 11"/>
          <p:cNvSpPr/>
          <p:nvPr/>
        </p:nvSpPr>
        <p:spPr>
          <a:xfrm>
            <a:off x="5458968" y="1188720"/>
            <a:ext cx="2962656" cy="402336"/>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0407" y="1243584"/>
            <a:ext cx="2852927" cy="310896"/>
          </a:xfrm>
          <a:prstGeom prst="rect">
            <a:avLst/>
          </a:prstGeom>
          <a:noFill/>
        </p:spPr>
        <p:txBody>
          <a:bodyPr wrap="square">
            <a:spAutoFit/>
          </a:bodyPr>
          <a:lstStyle/>
          <a:p>
            <a:pPr algn="ctr"/>
            <a:r>
              <a:rPr sz="1200" b="1" i="0">
                <a:solidFill>
                  <a:srgbClr val="FFFFFF"/>
                </a:solidFill>
                <a:latin typeface="Calibri"/>
              </a:rPr>
              <a:t>Manual Effort Today</a:t>
            </a:r>
          </a:p>
        </p:txBody>
      </p:sp>
      <p:sp>
        <p:nvSpPr>
          <p:cNvPr id="14" name="Rectangle 13"/>
          <p:cNvSpPr/>
          <p:nvPr/>
        </p:nvSpPr>
        <p:spPr>
          <a:xfrm>
            <a:off x="8540496" y="1188720"/>
            <a:ext cx="2962656" cy="40233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1936" y="1243584"/>
            <a:ext cx="2852927" cy="310896"/>
          </a:xfrm>
          <a:prstGeom prst="rect">
            <a:avLst/>
          </a:prstGeom>
          <a:noFill/>
        </p:spPr>
        <p:txBody>
          <a:bodyPr wrap="square">
            <a:spAutoFit/>
          </a:bodyPr>
          <a:lstStyle/>
          <a:p>
            <a:pPr algn="ctr"/>
            <a:r>
              <a:rPr sz="1200" b="1" i="0">
                <a:solidFill>
                  <a:srgbClr val="FFFFFF"/>
                </a:solidFill>
                <a:latin typeface="Calibri"/>
              </a:rPr>
              <a:t>With AI Assistant</a:t>
            </a:r>
          </a:p>
        </p:txBody>
      </p:sp>
      <p:sp>
        <p:nvSpPr>
          <p:cNvPr id="16" name="Rectangle 15"/>
          <p:cNvSpPr/>
          <p:nvPr/>
        </p:nvSpPr>
        <p:spPr>
          <a:xfrm>
            <a:off x="365760" y="1609344"/>
            <a:ext cx="497433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691640"/>
            <a:ext cx="4846320" cy="438912"/>
          </a:xfrm>
          <a:prstGeom prst="rect">
            <a:avLst/>
          </a:prstGeom>
          <a:noFill/>
        </p:spPr>
        <p:txBody>
          <a:bodyPr wrap="square">
            <a:spAutoFit/>
          </a:bodyPr>
          <a:lstStyle/>
          <a:p>
            <a:pPr algn="l"/>
            <a:r>
              <a:rPr sz="1100" b="0" i="0">
                <a:solidFill>
                  <a:srgbClr val="333333"/>
                </a:solidFill>
                <a:latin typeface="Calibri"/>
              </a:rPr>
              <a:t>Finding the right BADI or Exit</a:t>
            </a:r>
          </a:p>
        </p:txBody>
      </p:sp>
      <p:sp>
        <p:nvSpPr>
          <p:cNvPr id="18" name="Rectangle 17"/>
          <p:cNvSpPr/>
          <p:nvPr/>
        </p:nvSpPr>
        <p:spPr>
          <a:xfrm>
            <a:off x="5458968" y="1609344"/>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50407" y="1691640"/>
            <a:ext cx="2834639" cy="438912"/>
          </a:xfrm>
          <a:prstGeom prst="rect">
            <a:avLst/>
          </a:prstGeom>
          <a:noFill/>
        </p:spPr>
        <p:txBody>
          <a:bodyPr wrap="square">
            <a:spAutoFit/>
          </a:bodyPr>
          <a:lstStyle/>
          <a:p>
            <a:pPr algn="ctr"/>
            <a:r>
              <a:rPr sz="1100" b="1" i="0">
                <a:solidFill>
                  <a:srgbClr val="C0392B"/>
                </a:solidFill>
                <a:latin typeface="Calibri"/>
              </a:rPr>
              <a:t>2 – 3 hours</a:t>
            </a:r>
          </a:p>
        </p:txBody>
      </p:sp>
      <p:sp>
        <p:nvSpPr>
          <p:cNvPr id="20" name="Rectangle 19"/>
          <p:cNvSpPr/>
          <p:nvPr/>
        </p:nvSpPr>
        <p:spPr>
          <a:xfrm>
            <a:off x="8540496" y="1609344"/>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31936" y="1691640"/>
            <a:ext cx="2834639" cy="438912"/>
          </a:xfrm>
          <a:prstGeom prst="rect">
            <a:avLst/>
          </a:prstGeom>
          <a:noFill/>
        </p:spPr>
        <p:txBody>
          <a:bodyPr wrap="square">
            <a:spAutoFit/>
          </a:bodyPr>
          <a:lstStyle/>
          <a:p>
            <a:pPr algn="ctr"/>
            <a:r>
              <a:rPr sz="1100" b="1" i="0">
                <a:solidFill>
                  <a:srgbClr val="1A7A4A"/>
                </a:solidFill>
                <a:latin typeface="Calibri"/>
              </a:rPr>
              <a:t>&lt; 30 seconds</a:t>
            </a:r>
          </a:p>
        </p:txBody>
      </p:sp>
      <p:sp>
        <p:nvSpPr>
          <p:cNvPr id="22" name="Rectangle 21"/>
          <p:cNvSpPr/>
          <p:nvPr/>
        </p:nvSpPr>
        <p:spPr>
          <a:xfrm>
            <a:off x="365760" y="2231136"/>
            <a:ext cx="497433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313432"/>
            <a:ext cx="4846320" cy="438912"/>
          </a:xfrm>
          <a:prstGeom prst="rect">
            <a:avLst/>
          </a:prstGeom>
          <a:noFill/>
        </p:spPr>
        <p:txBody>
          <a:bodyPr wrap="square">
            <a:spAutoFit/>
          </a:bodyPr>
          <a:lstStyle/>
          <a:p>
            <a:pPr algn="l"/>
            <a:r>
              <a:rPr sz="1100" b="0" i="0">
                <a:solidFill>
                  <a:srgbClr val="333333"/>
                </a:solidFill>
                <a:latin typeface="Calibri"/>
              </a:rPr>
              <a:t>Understanding unfamiliar legacy code</a:t>
            </a:r>
          </a:p>
        </p:txBody>
      </p:sp>
      <p:sp>
        <p:nvSpPr>
          <p:cNvPr id="24" name="Rectangle 23"/>
          <p:cNvSpPr/>
          <p:nvPr/>
        </p:nvSpPr>
        <p:spPr>
          <a:xfrm>
            <a:off x="5458968" y="2231136"/>
            <a:ext cx="296265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50407" y="2313432"/>
            <a:ext cx="2834639" cy="438912"/>
          </a:xfrm>
          <a:prstGeom prst="rect">
            <a:avLst/>
          </a:prstGeom>
          <a:noFill/>
        </p:spPr>
        <p:txBody>
          <a:bodyPr wrap="square">
            <a:spAutoFit/>
          </a:bodyPr>
          <a:lstStyle/>
          <a:p>
            <a:pPr algn="ctr"/>
            <a:r>
              <a:rPr sz="1100" b="1" i="0">
                <a:solidFill>
                  <a:srgbClr val="C0392B"/>
                </a:solidFill>
                <a:latin typeface="Calibri"/>
              </a:rPr>
              <a:t>1 – 2 hours</a:t>
            </a:r>
          </a:p>
        </p:txBody>
      </p:sp>
      <p:sp>
        <p:nvSpPr>
          <p:cNvPr id="26" name="Rectangle 25"/>
          <p:cNvSpPr/>
          <p:nvPr/>
        </p:nvSpPr>
        <p:spPr>
          <a:xfrm>
            <a:off x="8540496" y="2231136"/>
            <a:ext cx="296265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31936" y="2313432"/>
            <a:ext cx="2834639" cy="438912"/>
          </a:xfrm>
          <a:prstGeom prst="rect">
            <a:avLst/>
          </a:prstGeom>
          <a:noFill/>
        </p:spPr>
        <p:txBody>
          <a:bodyPr wrap="square">
            <a:spAutoFit/>
          </a:bodyPr>
          <a:lstStyle/>
          <a:p>
            <a:pPr algn="ctr"/>
            <a:r>
              <a:rPr sz="1100" b="1" i="0">
                <a:solidFill>
                  <a:srgbClr val="1A7A4A"/>
                </a:solidFill>
                <a:latin typeface="Calibri"/>
              </a:rPr>
              <a:t>&lt; 1 minute</a:t>
            </a:r>
          </a:p>
        </p:txBody>
      </p:sp>
      <p:sp>
        <p:nvSpPr>
          <p:cNvPr id="28" name="Rectangle 27"/>
          <p:cNvSpPr/>
          <p:nvPr/>
        </p:nvSpPr>
        <p:spPr>
          <a:xfrm>
            <a:off x="365760" y="2852928"/>
            <a:ext cx="497433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2935224"/>
            <a:ext cx="4846320" cy="438912"/>
          </a:xfrm>
          <a:prstGeom prst="rect">
            <a:avLst/>
          </a:prstGeom>
          <a:noFill/>
        </p:spPr>
        <p:txBody>
          <a:bodyPr wrap="square">
            <a:spAutoFit/>
          </a:bodyPr>
          <a:lstStyle/>
          <a:p>
            <a:pPr algn="l"/>
            <a:r>
              <a:rPr sz="1100" b="0" i="0">
                <a:solidFill>
                  <a:srgbClr val="333333"/>
                </a:solidFill>
                <a:latin typeface="Calibri"/>
              </a:rPr>
              <a:t>Writing ABAP unit tests</a:t>
            </a:r>
          </a:p>
        </p:txBody>
      </p:sp>
      <p:sp>
        <p:nvSpPr>
          <p:cNvPr id="30" name="Rectangle 29"/>
          <p:cNvSpPr/>
          <p:nvPr/>
        </p:nvSpPr>
        <p:spPr>
          <a:xfrm>
            <a:off x="5458968" y="2852928"/>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50407" y="2935224"/>
            <a:ext cx="2834639" cy="438912"/>
          </a:xfrm>
          <a:prstGeom prst="rect">
            <a:avLst/>
          </a:prstGeom>
          <a:noFill/>
        </p:spPr>
        <p:txBody>
          <a:bodyPr wrap="square">
            <a:spAutoFit/>
          </a:bodyPr>
          <a:lstStyle/>
          <a:p>
            <a:pPr algn="ctr"/>
            <a:r>
              <a:rPr sz="1100" b="1" i="0">
                <a:solidFill>
                  <a:srgbClr val="C0392B"/>
                </a:solidFill>
                <a:latin typeface="Calibri"/>
              </a:rPr>
              <a:t>2 – 4 hours</a:t>
            </a:r>
          </a:p>
        </p:txBody>
      </p:sp>
      <p:sp>
        <p:nvSpPr>
          <p:cNvPr id="32" name="Rectangle 31"/>
          <p:cNvSpPr/>
          <p:nvPr/>
        </p:nvSpPr>
        <p:spPr>
          <a:xfrm>
            <a:off x="8540496" y="2852928"/>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31936" y="2935224"/>
            <a:ext cx="2834639" cy="438912"/>
          </a:xfrm>
          <a:prstGeom prst="rect">
            <a:avLst/>
          </a:prstGeom>
          <a:noFill/>
        </p:spPr>
        <p:txBody>
          <a:bodyPr wrap="square">
            <a:spAutoFit/>
          </a:bodyPr>
          <a:lstStyle/>
          <a:p>
            <a:pPr algn="ctr"/>
            <a:r>
              <a:rPr sz="1100" b="1" i="0">
                <a:solidFill>
                  <a:srgbClr val="1A7A4A"/>
                </a:solidFill>
                <a:latin typeface="Calibri"/>
              </a:rPr>
              <a:t>2 – 3 minutes</a:t>
            </a:r>
          </a:p>
        </p:txBody>
      </p:sp>
      <p:sp>
        <p:nvSpPr>
          <p:cNvPr id="34" name="Rectangle 33"/>
          <p:cNvSpPr/>
          <p:nvPr/>
        </p:nvSpPr>
        <p:spPr>
          <a:xfrm>
            <a:off x="365760" y="3474720"/>
            <a:ext cx="497433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557015"/>
            <a:ext cx="4846320" cy="438912"/>
          </a:xfrm>
          <a:prstGeom prst="rect">
            <a:avLst/>
          </a:prstGeom>
          <a:noFill/>
        </p:spPr>
        <p:txBody>
          <a:bodyPr wrap="square">
            <a:spAutoFit/>
          </a:bodyPr>
          <a:lstStyle/>
          <a:p>
            <a:pPr algn="l"/>
            <a:r>
              <a:rPr sz="1100" b="0" i="0">
                <a:solidFill>
                  <a:srgbClr val="333333"/>
                </a:solidFill>
                <a:latin typeface="Calibri"/>
              </a:rPr>
              <a:t>Impact analysis before a change</a:t>
            </a:r>
          </a:p>
        </p:txBody>
      </p:sp>
      <p:sp>
        <p:nvSpPr>
          <p:cNvPr id="36" name="Rectangle 35"/>
          <p:cNvSpPr/>
          <p:nvPr/>
        </p:nvSpPr>
        <p:spPr>
          <a:xfrm>
            <a:off x="5458968" y="3474720"/>
            <a:ext cx="296265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0407" y="3557015"/>
            <a:ext cx="2834639" cy="438912"/>
          </a:xfrm>
          <a:prstGeom prst="rect">
            <a:avLst/>
          </a:prstGeom>
          <a:noFill/>
        </p:spPr>
        <p:txBody>
          <a:bodyPr wrap="square">
            <a:spAutoFit/>
          </a:bodyPr>
          <a:lstStyle/>
          <a:p>
            <a:pPr algn="ctr"/>
            <a:r>
              <a:rPr sz="1100" b="1" i="0">
                <a:solidFill>
                  <a:srgbClr val="C0392B"/>
                </a:solidFill>
                <a:latin typeface="Calibri"/>
              </a:rPr>
              <a:t>30 – 60 min</a:t>
            </a:r>
          </a:p>
        </p:txBody>
      </p:sp>
      <p:sp>
        <p:nvSpPr>
          <p:cNvPr id="38" name="Rectangle 37"/>
          <p:cNvSpPr/>
          <p:nvPr/>
        </p:nvSpPr>
        <p:spPr>
          <a:xfrm>
            <a:off x="8540496" y="3474720"/>
            <a:ext cx="296265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31936" y="3557015"/>
            <a:ext cx="2834639" cy="438912"/>
          </a:xfrm>
          <a:prstGeom prst="rect">
            <a:avLst/>
          </a:prstGeom>
          <a:noFill/>
        </p:spPr>
        <p:txBody>
          <a:bodyPr wrap="square">
            <a:spAutoFit/>
          </a:bodyPr>
          <a:lstStyle/>
          <a:p>
            <a:pPr algn="ctr"/>
            <a:r>
              <a:rPr sz="1100" b="1" i="0">
                <a:solidFill>
                  <a:srgbClr val="1A7A4A"/>
                </a:solidFill>
                <a:latin typeface="Calibri"/>
              </a:rPr>
              <a:t>&lt; 1 minute</a:t>
            </a:r>
          </a:p>
        </p:txBody>
      </p:sp>
      <p:sp>
        <p:nvSpPr>
          <p:cNvPr id="40" name="Rectangle 39"/>
          <p:cNvSpPr/>
          <p:nvPr/>
        </p:nvSpPr>
        <p:spPr>
          <a:xfrm>
            <a:off x="365760" y="4096512"/>
            <a:ext cx="497433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178808"/>
            <a:ext cx="4846320" cy="438912"/>
          </a:xfrm>
          <a:prstGeom prst="rect">
            <a:avLst/>
          </a:prstGeom>
          <a:noFill/>
        </p:spPr>
        <p:txBody>
          <a:bodyPr wrap="square">
            <a:spAutoFit/>
          </a:bodyPr>
          <a:lstStyle/>
          <a:p>
            <a:pPr algn="l"/>
            <a:r>
              <a:rPr sz="1100" b="0" i="0">
                <a:solidFill>
                  <a:srgbClr val="333333"/>
                </a:solidFill>
                <a:latin typeface="Calibri"/>
              </a:rPr>
              <a:t>Checking TR transport readiness</a:t>
            </a:r>
          </a:p>
        </p:txBody>
      </p:sp>
      <p:sp>
        <p:nvSpPr>
          <p:cNvPr id="42" name="Rectangle 41"/>
          <p:cNvSpPr/>
          <p:nvPr/>
        </p:nvSpPr>
        <p:spPr>
          <a:xfrm>
            <a:off x="5458968" y="4096512"/>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0407" y="4178808"/>
            <a:ext cx="2834639" cy="438912"/>
          </a:xfrm>
          <a:prstGeom prst="rect">
            <a:avLst/>
          </a:prstGeom>
          <a:noFill/>
        </p:spPr>
        <p:txBody>
          <a:bodyPr wrap="square">
            <a:spAutoFit/>
          </a:bodyPr>
          <a:lstStyle/>
          <a:p>
            <a:pPr algn="ctr"/>
            <a:r>
              <a:rPr sz="1100" b="1" i="0">
                <a:solidFill>
                  <a:srgbClr val="C0392B"/>
                </a:solidFill>
                <a:latin typeface="Calibri"/>
              </a:rPr>
              <a:t>20 – 40 min</a:t>
            </a:r>
          </a:p>
        </p:txBody>
      </p:sp>
      <p:sp>
        <p:nvSpPr>
          <p:cNvPr id="44" name="Rectangle 43"/>
          <p:cNvSpPr/>
          <p:nvPr/>
        </p:nvSpPr>
        <p:spPr>
          <a:xfrm>
            <a:off x="8540496" y="4096512"/>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31936" y="4178808"/>
            <a:ext cx="2834639" cy="438912"/>
          </a:xfrm>
          <a:prstGeom prst="rect">
            <a:avLst/>
          </a:prstGeom>
          <a:noFill/>
        </p:spPr>
        <p:txBody>
          <a:bodyPr wrap="square">
            <a:spAutoFit/>
          </a:bodyPr>
          <a:lstStyle/>
          <a:p>
            <a:pPr algn="ctr"/>
            <a:r>
              <a:rPr sz="1100" b="1" i="0">
                <a:solidFill>
                  <a:srgbClr val="1A7A4A"/>
                </a:solidFill>
                <a:latin typeface="Calibri"/>
              </a:rPr>
              <a:t>&lt; 30 seconds</a:t>
            </a:r>
          </a:p>
        </p:txBody>
      </p:sp>
      <p:sp>
        <p:nvSpPr>
          <p:cNvPr id="46" name="Rectangle 45"/>
          <p:cNvSpPr/>
          <p:nvPr/>
        </p:nvSpPr>
        <p:spPr>
          <a:xfrm>
            <a:off x="365760" y="4718304"/>
            <a:ext cx="497433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800600"/>
            <a:ext cx="4846320" cy="438912"/>
          </a:xfrm>
          <a:prstGeom prst="rect">
            <a:avLst/>
          </a:prstGeom>
          <a:noFill/>
        </p:spPr>
        <p:txBody>
          <a:bodyPr wrap="square">
            <a:spAutoFit/>
          </a:bodyPr>
          <a:lstStyle/>
          <a:p>
            <a:pPr algn="l"/>
            <a:r>
              <a:rPr sz="1100" b="0" i="0">
                <a:solidFill>
                  <a:srgbClr val="333333"/>
                </a:solidFill>
                <a:latin typeface="Calibri"/>
              </a:rPr>
              <a:t>Cross-system CDS comparison</a:t>
            </a:r>
          </a:p>
        </p:txBody>
      </p:sp>
      <p:sp>
        <p:nvSpPr>
          <p:cNvPr id="48" name="Rectangle 47"/>
          <p:cNvSpPr/>
          <p:nvPr/>
        </p:nvSpPr>
        <p:spPr>
          <a:xfrm>
            <a:off x="5458968" y="4718304"/>
            <a:ext cx="296265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50407" y="4800600"/>
            <a:ext cx="2834639" cy="438912"/>
          </a:xfrm>
          <a:prstGeom prst="rect">
            <a:avLst/>
          </a:prstGeom>
          <a:noFill/>
        </p:spPr>
        <p:txBody>
          <a:bodyPr wrap="square">
            <a:spAutoFit/>
          </a:bodyPr>
          <a:lstStyle/>
          <a:p>
            <a:pPr algn="ctr"/>
            <a:r>
              <a:rPr sz="1100" b="1" i="0">
                <a:solidFill>
                  <a:srgbClr val="C0392B"/>
                </a:solidFill>
                <a:latin typeface="Calibri"/>
              </a:rPr>
              <a:t>15 – 30 min</a:t>
            </a:r>
          </a:p>
        </p:txBody>
      </p:sp>
      <p:sp>
        <p:nvSpPr>
          <p:cNvPr id="50" name="Rectangle 49"/>
          <p:cNvSpPr/>
          <p:nvPr/>
        </p:nvSpPr>
        <p:spPr>
          <a:xfrm>
            <a:off x="8540496" y="4718304"/>
            <a:ext cx="2962656" cy="566928"/>
          </a:xfrm>
          <a:prstGeom prst="rect">
            <a:avLst/>
          </a:prstGeom>
          <a:solidFill>
            <a:srgbClr val="F4F6F9"/>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31936" y="4800600"/>
            <a:ext cx="2834639" cy="438912"/>
          </a:xfrm>
          <a:prstGeom prst="rect">
            <a:avLst/>
          </a:prstGeom>
          <a:noFill/>
        </p:spPr>
        <p:txBody>
          <a:bodyPr wrap="square">
            <a:spAutoFit/>
          </a:bodyPr>
          <a:lstStyle/>
          <a:p>
            <a:pPr algn="ctr"/>
            <a:r>
              <a:rPr sz="1100" b="1" i="0">
                <a:solidFill>
                  <a:srgbClr val="1A7A4A"/>
                </a:solidFill>
                <a:latin typeface="Calibri"/>
              </a:rPr>
              <a:t>&lt; 30 seconds</a:t>
            </a:r>
          </a:p>
        </p:txBody>
      </p:sp>
      <p:sp>
        <p:nvSpPr>
          <p:cNvPr id="52" name="Rectangle 51"/>
          <p:cNvSpPr/>
          <p:nvPr/>
        </p:nvSpPr>
        <p:spPr>
          <a:xfrm>
            <a:off x="365760" y="5340096"/>
            <a:ext cx="497433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5422392"/>
            <a:ext cx="4846320" cy="438912"/>
          </a:xfrm>
          <a:prstGeom prst="rect">
            <a:avLst/>
          </a:prstGeom>
          <a:noFill/>
        </p:spPr>
        <p:txBody>
          <a:bodyPr wrap="square">
            <a:spAutoFit/>
          </a:bodyPr>
          <a:lstStyle/>
          <a:p>
            <a:pPr algn="l"/>
            <a:r>
              <a:rPr sz="1100" b="0" i="0">
                <a:solidFill>
                  <a:srgbClr val="333333"/>
                </a:solidFill>
                <a:latin typeface="Calibri"/>
              </a:rPr>
              <a:t>Code review for standards compliance</a:t>
            </a:r>
          </a:p>
        </p:txBody>
      </p:sp>
      <p:sp>
        <p:nvSpPr>
          <p:cNvPr id="54" name="Rectangle 53"/>
          <p:cNvSpPr/>
          <p:nvPr/>
        </p:nvSpPr>
        <p:spPr>
          <a:xfrm>
            <a:off x="5458968" y="5340096"/>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550407" y="5422392"/>
            <a:ext cx="2834639" cy="438912"/>
          </a:xfrm>
          <a:prstGeom prst="rect">
            <a:avLst/>
          </a:prstGeom>
          <a:noFill/>
        </p:spPr>
        <p:txBody>
          <a:bodyPr wrap="square">
            <a:spAutoFit/>
          </a:bodyPr>
          <a:lstStyle/>
          <a:p>
            <a:pPr algn="ctr"/>
            <a:r>
              <a:rPr sz="1100" b="1" i="0">
                <a:solidFill>
                  <a:srgbClr val="C0392B"/>
                </a:solidFill>
                <a:latin typeface="Calibri"/>
              </a:rPr>
              <a:t>20 – 45 min</a:t>
            </a:r>
          </a:p>
        </p:txBody>
      </p:sp>
      <p:sp>
        <p:nvSpPr>
          <p:cNvPr id="56" name="Rectangle 55"/>
          <p:cNvSpPr/>
          <p:nvPr/>
        </p:nvSpPr>
        <p:spPr>
          <a:xfrm>
            <a:off x="8540496" y="5340096"/>
            <a:ext cx="2962656" cy="566928"/>
          </a:xfrm>
          <a:prstGeom prst="rect">
            <a:avLst/>
          </a:prstGeom>
          <a:solidFill>
            <a:srgbClr val="FFFFFF"/>
          </a:solidFill>
          <a:ln w="381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31936" y="5422392"/>
            <a:ext cx="2834639" cy="438912"/>
          </a:xfrm>
          <a:prstGeom prst="rect">
            <a:avLst/>
          </a:prstGeom>
          <a:noFill/>
        </p:spPr>
        <p:txBody>
          <a:bodyPr wrap="square">
            <a:spAutoFit/>
          </a:bodyPr>
          <a:lstStyle/>
          <a:p>
            <a:pPr algn="ctr"/>
            <a:r>
              <a:rPr sz="1100" b="1" i="0">
                <a:solidFill>
                  <a:srgbClr val="1A7A4A"/>
                </a:solidFill>
                <a:latin typeface="Calibri"/>
              </a:rPr>
              <a:t>&lt; 1 minute</a:t>
            </a:r>
          </a:p>
        </p:txBody>
      </p:sp>
      <p:sp>
        <p:nvSpPr>
          <p:cNvPr id="58" name="TextBox 57"/>
          <p:cNvSpPr txBox="1"/>
          <p:nvPr/>
        </p:nvSpPr>
        <p:spPr>
          <a:xfrm>
            <a:off x="365760" y="6035040"/>
            <a:ext cx="11430000" cy="411480"/>
          </a:xfrm>
          <a:prstGeom prst="rect">
            <a:avLst/>
          </a:prstGeom>
          <a:noFill/>
        </p:spPr>
        <p:txBody>
          <a:bodyPr wrap="square">
            <a:spAutoFit/>
          </a:bodyPr>
          <a:lstStyle/>
          <a:p>
            <a:pPr algn="ctr"/>
            <a:r>
              <a:rPr sz="1400" b="1" i="0">
                <a:solidFill>
                  <a:srgbClr val="00275A"/>
                </a:solidFill>
                <a:latin typeface="Calibri"/>
              </a:rPr>
              <a:t>Conservative estimate: 2–4 hours saved per developer per working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87552"/>
            <a:ext cx="12188952" cy="54864"/>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109728"/>
            <a:ext cx="10058400" cy="640080"/>
          </a:xfrm>
          <a:prstGeom prst="rect">
            <a:avLst/>
          </a:prstGeom>
          <a:noFill/>
        </p:spPr>
        <p:txBody>
          <a:bodyPr wrap="square">
            <a:spAutoFit/>
          </a:bodyPr>
          <a:lstStyle/>
          <a:p>
            <a:pPr algn="l"/>
            <a:r>
              <a:rPr sz="2800" b="1" i="0">
                <a:solidFill>
                  <a:srgbClr val="FFFFFF"/>
                </a:solidFill>
                <a:latin typeface="Calibri"/>
              </a:rPr>
              <a:t>Technical Summary</a:t>
            </a:r>
          </a:p>
        </p:txBody>
      </p:sp>
      <p:sp>
        <p:nvSpPr>
          <p:cNvPr id="6" name="TextBox 5"/>
          <p:cNvSpPr txBox="1"/>
          <p:nvPr/>
        </p:nvSpPr>
        <p:spPr>
          <a:xfrm>
            <a:off x="320040" y="658368"/>
            <a:ext cx="9144000" cy="365760"/>
          </a:xfrm>
          <a:prstGeom prst="rect">
            <a:avLst/>
          </a:prstGeom>
          <a:noFill/>
        </p:spPr>
        <p:txBody>
          <a:bodyPr wrap="square">
            <a:spAutoFit/>
          </a:bodyPr>
          <a:lstStyle/>
          <a:p>
            <a:pPr algn="l"/>
            <a:r>
              <a:rPr sz="1400" b="0" i="0">
                <a:solidFill>
                  <a:srgbClr val="FBBF00"/>
                </a:solidFill>
                <a:latin typeface="Calibri"/>
              </a:rPr>
              <a:t>How it works — end to end</a:t>
            </a:r>
          </a:p>
        </p:txBody>
      </p:sp>
      <p:sp>
        <p:nvSpPr>
          <p:cNvPr id="7" name="Rectangle 6"/>
          <p:cNvSpPr/>
          <p:nvPr/>
        </p:nvSpPr>
        <p:spPr>
          <a:xfrm>
            <a:off x="0" y="6537960"/>
            <a:ext cx="12188952" cy="3200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56248"/>
            <a:ext cx="8229600" cy="256032"/>
          </a:xfrm>
          <a:prstGeom prst="rect">
            <a:avLst/>
          </a:prstGeom>
          <a:noFill/>
        </p:spPr>
        <p:txBody>
          <a:bodyPr wrap="square">
            <a:spAutoFit/>
          </a:bodyPr>
          <a:lstStyle/>
          <a:p>
            <a:pPr algn="l"/>
            <a:r>
              <a:rPr sz="1000" b="0" i="0">
                <a:solidFill>
                  <a:srgbClr val="CCD3DC"/>
                </a:solidFill>
                <a:latin typeface="Calibri"/>
              </a:rPr>
              <a:t>ABAP AI Assistant  |  Confidential — Internal Use Only</a:t>
            </a:r>
          </a:p>
        </p:txBody>
      </p:sp>
      <p:sp>
        <p:nvSpPr>
          <p:cNvPr id="9" name="TextBox 8"/>
          <p:cNvSpPr txBox="1"/>
          <p:nvPr/>
        </p:nvSpPr>
        <p:spPr>
          <a:xfrm>
            <a:off x="11430000" y="6556248"/>
            <a:ext cx="548640" cy="256032"/>
          </a:xfrm>
          <a:prstGeom prst="rect">
            <a:avLst/>
          </a:prstGeom>
          <a:noFill/>
        </p:spPr>
        <p:txBody>
          <a:bodyPr wrap="square">
            <a:spAutoFit/>
          </a:bodyPr>
          <a:lstStyle/>
          <a:p>
            <a:pPr algn="r"/>
            <a:r>
              <a:rPr sz="1000" b="0" i="0">
                <a:solidFill>
                  <a:srgbClr val="CCD3DC"/>
                </a:solidFill>
                <a:latin typeface="Calibri"/>
              </a:rPr>
              <a:t>10 / 11</a:t>
            </a:r>
          </a:p>
        </p:txBody>
      </p:sp>
      <p:sp>
        <p:nvSpPr>
          <p:cNvPr id="10" name="Rectangle 9"/>
          <p:cNvSpPr/>
          <p:nvPr/>
        </p:nvSpPr>
        <p:spPr>
          <a:xfrm>
            <a:off x="274320" y="1188720"/>
            <a:ext cx="548640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188720"/>
            <a:ext cx="64008" cy="12344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252728"/>
            <a:ext cx="5212080" cy="320040"/>
          </a:xfrm>
          <a:prstGeom prst="rect">
            <a:avLst/>
          </a:prstGeom>
          <a:noFill/>
        </p:spPr>
        <p:txBody>
          <a:bodyPr wrap="square">
            <a:spAutoFit/>
          </a:bodyPr>
          <a:lstStyle/>
          <a:p>
            <a:pPr algn="l"/>
            <a:r>
              <a:rPr sz="1200" b="1" i="0">
                <a:solidFill>
                  <a:srgbClr val="00275A"/>
                </a:solidFill>
                <a:latin typeface="Calibri"/>
              </a:rPr>
              <a:t>Runtime Environment</a:t>
            </a:r>
          </a:p>
        </p:txBody>
      </p:sp>
      <p:sp>
        <p:nvSpPr>
          <p:cNvPr id="13" name="TextBox 12"/>
          <p:cNvSpPr txBox="1"/>
          <p:nvPr/>
        </p:nvSpPr>
        <p:spPr>
          <a:xfrm>
            <a:off x="457200" y="1618488"/>
            <a:ext cx="5212080" cy="749808"/>
          </a:xfrm>
          <a:prstGeom prst="rect">
            <a:avLst/>
          </a:prstGeom>
          <a:noFill/>
        </p:spPr>
        <p:txBody>
          <a:bodyPr wrap="square">
            <a:spAutoFit/>
          </a:bodyPr>
          <a:lstStyle/>
          <a:p>
            <a:pPr algn="l"/>
            <a:r>
              <a:rPr sz="1000" b="0" i="0">
                <a:solidFill>
                  <a:srgbClr val="333333"/>
                </a:solidFill>
                <a:latin typeface="Calibri"/>
              </a:rPr>
              <a:t>Python 3.11 running locally on the developer's laptop.
No cloud deployment. No external network calls.</a:t>
            </a:r>
          </a:p>
        </p:txBody>
      </p:sp>
      <p:sp>
        <p:nvSpPr>
          <p:cNvPr id="14" name="Rectangle 13"/>
          <p:cNvSpPr/>
          <p:nvPr/>
        </p:nvSpPr>
        <p:spPr>
          <a:xfrm>
            <a:off x="274320" y="2560320"/>
            <a:ext cx="548640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560320"/>
            <a:ext cx="64008" cy="12344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624327"/>
            <a:ext cx="5212080" cy="320040"/>
          </a:xfrm>
          <a:prstGeom prst="rect">
            <a:avLst/>
          </a:prstGeom>
          <a:noFill/>
        </p:spPr>
        <p:txBody>
          <a:bodyPr wrap="square">
            <a:spAutoFit/>
          </a:bodyPr>
          <a:lstStyle/>
          <a:p>
            <a:pPr algn="l"/>
            <a:r>
              <a:rPr sz="1200" b="1" i="0">
                <a:solidFill>
                  <a:srgbClr val="00275A"/>
                </a:solidFill>
                <a:latin typeface="Calibri"/>
              </a:rPr>
              <a:t>Authentication</a:t>
            </a:r>
          </a:p>
        </p:txBody>
      </p:sp>
      <p:sp>
        <p:nvSpPr>
          <p:cNvPr id="17" name="TextBox 16"/>
          <p:cNvSpPr txBox="1"/>
          <p:nvPr/>
        </p:nvSpPr>
        <p:spPr>
          <a:xfrm>
            <a:off x="457200" y="2990087"/>
            <a:ext cx="5212080" cy="749808"/>
          </a:xfrm>
          <a:prstGeom prst="rect">
            <a:avLst/>
          </a:prstGeom>
          <a:noFill/>
        </p:spPr>
        <p:txBody>
          <a:bodyPr wrap="square">
            <a:spAutoFit/>
          </a:bodyPr>
          <a:lstStyle/>
          <a:p>
            <a:pPr algn="l"/>
            <a:r>
              <a:rPr sz="1000" b="0" i="0">
                <a:solidFill>
                  <a:srgbClr val="333333"/>
                </a:solidFill>
                <a:latin typeface="Calibri"/>
              </a:rPr>
              <a:t>Windows SSPI (Kerberos/NTLM) — same as Eclipse.
No passwords. No API keys. No shared secrets.</a:t>
            </a:r>
          </a:p>
        </p:txBody>
      </p:sp>
      <p:sp>
        <p:nvSpPr>
          <p:cNvPr id="18" name="Rectangle 17"/>
          <p:cNvSpPr/>
          <p:nvPr/>
        </p:nvSpPr>
        <p:spPr>
          <a:xfrm>
            <a:off x="274320" y="3931920"/>
            <a:ext cx="548640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3931920"/>
            <a:ext cx="64008" cy="12344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995928"/>
            <a:ext cx="5212080" cy="320040"/>
          </a:xfrm>
          <a:prstGeom prst="rect">
            <a:avLst/>
          </a:prstGeom>
          <a:noFill/>
        </p:spPr>
        <p:txBody>
          <a:bodyPr wrap="square">
            <a:spAutoFit/>
          </a:bodyPr>
          <a:lstStyle/>
          <a:p>
            <a:pPr algn="l"/>
            <a:r>
              <a:rPr sz="1200" b="1" i="0">
                <a:solidFill>
                  <a:srgbClr val="00275A"/>
                </a:solidFill>
                <a:latin typeface="Calibri"/>
              </a:rPr>
              <a:t>SAP Connectivity</a:t>
            </a:r>
          </a:p>
        </p:txBody>
      </p:sp>
      <p:sp>
        <p:nvSpPr>
          <p:cNvPr id="21" name="TextBox 20"/>
          <p:cNvSpPr txBox="1"/>
          <p:nvPr/>
        </p:nvSpPr>
        <p:spPr>
          <a:xfrm>
            <a:off x="457200" y="4361688"/>
            <a:ext cx="5212080" cy="749808"/>
          </a:xfrm>
          <a:prstGeom prst="rect">
            <a:avLst/>
          </a:prstGeom>
          <a:noFill/>
        </p:spPr>
        <p:txBody>
          <a:bodyPr wrap="square">
            <a:spAutoFit/>
          </a:bodyPr>
          <a:lstStyle/>
          <a:p>
            <a:pPr algn="l"/>
            <a:r>
              <a:rPr sz="1000" b="0" i="0">
                <a:solidFill>
                  <a:srgbClr val="333333"/>
                </a:solidFill>
                <a:latin typeface="Calibri"/>
              </a:rPr>
              <a:t>SAP ADT REST API over HTTPS.
All calls are HTTP GET (read-only).
Response data is never written to disk.</a:t>
            </a:r>
          </a:p>
        </p:txBody>
      </p:sp>
      <p:sp>
        <p:nvSpPr>
          <p:cNvPr id="22" name="Rectangle 21"/>
          <p:cNvSpPr/>
          <p:nvPr/>
        </p:nvSpPr>
        <p:spPr>
          <a:xfrm>
            <a:off x="274320" y="5303520"/>
            <a:ext cx="548640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5303520"/>
            <a:ext cx="64008" cy="123444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367528"/>
            <a:ext cx="5212080" cy="320040"/>
          </a:xfrm>
          <a:prstGeom prst="rect">
            <a:avLst/>
          </a:prstGeom>
          <a:noFill/>
        </p:spPr>
        <p:txBody>
          <a:bodyPr wrap="square">
            <a:spAutoFit/>
          </a:bodyPr>
          <a:lstStyle/>
          <a:p>
            <a:pPr algn="l"/>
            <a:r>
              <a:rPr sz="1200" b="1" i="0">
                <a:solidFill>
                  <a:srgbClr val="00275A"/>
                </a:solidFill>
                <a:latin typeface="Calibri"/>
              </a:rPr>
              <a:t>LLM Integration</a:t>
            </a:r>
          </a:p>
        </p:txBody>
      </p:sp>
      <p:sp>
        <p:nvSpPr>
          <p:cNvPr id="25" name="TextBox 24"/>
          <p:cNvSpPr txBox="1"/>
          <p:nvPr/>
        </p:nvSpPr>
        <p:spPr>
          <a:xfrm>
            <a:off x="457200" y="5733288"/>
            <a:ext cx="5212080" cy="749808"/>
          </a:xfrm>
          <a:prstGeom prst="rect">
            <a:avLst/>
          </a:prstGeom>
          <a:noFill/>
        </p:spPr>
        <p:txBody>
          <a:bodyPr wrap="square">
            <a:spAutoFit/>
          </a:bodyPr>
          <a:lstStyle/>
          <a:p>
            <a:pPr algn="l"/>
            <a:r>
              <a:rPr sz="1000" b="0" i="0">
                <a:solidFill>
                  <a:srgbClr val="333333"/>
                </a:solidFill>
                <a:latin typeface="Calibri"/>
              </a:rPr>
              <a:t>GitHub Copilot (Claude Sonnet) in Eclipse IDE.
Copilot calls the MCP server via the Model Context Protocol.
All context stays within the IDE session.</a:t>
            </a:r>
          </a:p>
        </p:txBody>
      </p:sp>
      <p:sp>
        <p:nvSpPr>
          <p:cNvPr id="26" name="Rectangle 25"/>
          <p:cNvSpPr/>
          <p:nvPr/>
        </p:nvSpPr>
        <p:spPr>
          <a:xfrm>
            <a:off x="6309360" y="1188720"/>
            <a:ext cx="557784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1188720"/>
            <a:ext cx="64008" cy="123444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1252728"/>
            <a:ext cx="5303520" cy="320040"/>
          </a:xfrm>
          <a:prstGeom prst="rect">
            <a:avLst/>
          </a:prstGeom>
          <a:noFill/>
        </p:spPr>
        <p:txBody>
          <a:bodyPr wrap="square">
            <a:spAutoFit/>
          </a:bodyPr>
          <a:lstStyle/>
          <a:p>
            <a:pPr algn="l"/>
            <a:r>
              <a:rPr sz="1200" b="1" i="0">
                <a:solidFill>
                  <a:srgbClr val="00275A"/>
                </a:solidFill>
                <a:latin typeface="Calibri"/>
              </a:rPr>
              <a:t>Retrieval for SAP Catalog</a:t>
            </a:r>
          </a:p>
        </p:txBody>
      </p:sp>
      <p:sp>
        <p:nvSpPr>
          <p:cNvPr id="29" name="TextBox 28"/>
          <p:cNvSpPr txBox="1"/>
          <p:nvPr/>
        </p:nvSpPr>
        <p:spPr>
          <a:xfrm>
            <a:off x="6492240" y="1618488"/>
            <a:ext cx="5303520" cy="749808"/>
          </a:xfrm>
          <a:prstGeom prst="rect">
            <a:avLst/>
          </a:prstGeom>
          <a:noFill/>
        </p:spPr>
        <p:txBody>
          <a:bodyPr wrap="square">
            <a:spAutoFit/>
          </a:bodyPr>
          <a:lstStyle/>
          <a:p>
            <a:pPr algn="l"/>
            <a:r>
              <a:rPr sz="1000" b="0" i="0">
                <a:solidFill>
                  <a:srgbClr val="333333"/>
                </a:solidFill>
                <a:latin typeface="Calibri"/>
              </a:rPr>
              <a:t>TF-IDF keyword index (llama-index-core, MIT).
No vector embeddings. No external API.
Built in-memory on each request from live SAP data.</a:t>
            </a:r>
          </a:p>
        </p:txBody>
      </p:sp>
      <p:sp>
        <p:nvSpPr>
          <p:cNvPr id="30" name="Rectangle 29"/>
          <p:cNvSpPr/>
          <p:nvPr/>
        </p:nvSpPr>
        <p:spPr>
          <a:xfrm>
            <a:off x="6309360" y="2560320"/>
            <a:ext cx="557784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09360" y="2560320"/>
            <a:ext cx="64008" cy="123444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2624327"/>
            <a:ext cx="5303520" cy="320040"/>
          </a:xfrm>
          <a:prstGeom prst="rect">
            <a:avLst/>
          </a:prstGeom>
          <a:noFill/>
        </p:spPr>
        <p:txBody>
          <a:bodyPr wrap="square">
            <a:spAutoFit/>
          </a:bodyPr>
          <a:lstStyle/>
          <a:p>
            <a:pPr algn="l"/>
            <a:r>
              <a:rPr sz="1200" b="1" i="0">
                <a:solidFill>
                  <a:srgbClr val="00275A"/>
                </a:solidFill>
                <a:latin typeface="Calibri"/>
              </a:rPr>
              <a:t>Certificate Trust</a:t>
            </a:r>
          </a:p>
        </p:txBody>
      </p:sp>
      <p:sp>
        <p:nvSpPr>
          <p:cNvPr id="33" name="TextBox 32"/>
          <p:cNvSpPr txBox="1"/>
          <p:nvPr/>
        </p:nvSpPr>
        <p:spPr>
          <a:xfrm>
            <a:off x="6492240" y="2990087"/>
            <a:ext cx="5303520" cy="749808"/>
          </a:xfrm>
          <a:prstGeom prst="rect">
            <a:avLst/>
          </a:prstGeom>
          <a:noFill/>
        </p:spPr>
        <p:txBody>
          <a:bodyPr wrap="square">
            <a:spAutoFit/>
          </a:bodyPr>
          <a:lstStyle/>
          <a:p>
            <a:pPr algn="l"/>
            <a:r>
              <a:rPr sz="1000" b="0" i="0">
                <a:solidFill>
                  <a:srgbClr val="333333"/>
                </a:solidFill>
                <a:latin typeface="Calibri"/>
              </a:rPr>
              <a:t>truststore (MIT) injects the Windows Certificate
Store into Python SSL — Shell corporate CAs are
automatically trusted, no manual cert installation.</a:t>
            </a:r>
          </a:p>
        </p:txBody>
      </p:sp>
      <p:sp>
        <p:nvSpPr>
          <p:cNvPr id="34" name="Rectangle 33"/>
          <p:cNvSpPr/>
          <p:nvPr/>
        </p:nvSpPr>
        <p:spPr>
          <a:xfrm>
            <a:off x="6309360" y="3931920"/>
            <a:ext cx="557784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3931920"/>
            <a:ext cx="64008" cy="123444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3995928"/>
            <a:ext cx="5303520" cy="320040"/>
          </a:xfrm>
          <a:prstGeom prst="rect">
            <a:avLst/>
          </a:prstGeom>
          <a:noFill/>
        </p:spPr>
        <p:txBody>
          <a:bodyPr wrap="square">
            <a:spAutoFit/>
          </a:bodyPr>
          <a:lstStyle/>
          <a:p>
            <a:pPr algn="l"/>
            <a:r>
              <a:rPr sz="1200" b="1" i="0">
                <a:solidFill>
                  <a:srgbClr val="00275A"/>
                </a:solidFill>
                <a:latin typeface="Calibri"/>
              </a:rPr>
              <a:t>Supported Systems</a:t>
            </a:r>
          </a:p>
        </p:txBody>
      </p:sp>
      <p:sp>
        <p:nvSpPr>
          <p:cNvPr id="37" name="TextBox 36"/>
          <p:cNvSpPr txBox="1"/>
          <p:nvPr/>
        </p:nvSpPr>
        <p:spPr>
          <a:xfrm>
            <a:off x="6492240" y="4361688"/>
            <a:ext cx="5303520" cy="749808"/>
          </a:xfrm>
          <a:prstGeom prst="rect">
            <a:avLst/>
          </a:prstGeom>
          <a:noFill/>
        </p:spPr>
        <p:txBody>
          <a:bodyPr wrap="square">
            <a:spAutoFit/>
          </a:bodyPr>
          <a:lstStyle/>
          <a:p>
            <a:pPr algn="l"/>
            <a:r>
              <a:rPr sz="1000" b="0" i="0">
                <a:solidFill>
                  <a:srgbClr val="333333"/>
                </a:solidFill>
                <a:latin typeface="Calibri"/>
              </a:rPr>
              <a:t>D59 (Development), K59 (Quality),
S59 (Sandbox), A59 (Pre-Production).
System ID validated before every cross-system call.</a:t>
            </a:r>
          </a:p>
        </p:txBody>
      </p:sp>
      <p:sp>
        <p:nvSpPr>
          <p:cNvPr id="38" name="Rectangle 37"/>
          <p:cNvSpPr/>
          <p:nvPr/>
        </p:nvSpPr>
        <p:spPr>
          <a:xfrm>
            <a:off x="6309360" y="5303520"/>
            <a:ext cx="5577840" cy="1234440"/>
          </a:xfrm>
          <a:prstGeom prst="rect">
            <a:avLst/>
          </a:prstGeom>
          <a:solidFill>
            <a:srgbClr val="FFFFFF"/>
          </a:solidFill>
          <a:ln w="6350">
            <a:solidFill>
              <a:srgbClr val="CCD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9360" y="5303520"/>
            <a:ext cx="64008" cy="123444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5367528"/>
            <a:ext cx="5303520" cy="320040"/>
          </a:xfrm>
          <a:prstGeom prst="rect">
            <a:avLst/>
          </a:prstGeom>
          <a:noFill/>
        </p:spPr>
        <p:txBody>
          <a:bodyPr wrap="square">
            <a:spAutoFit/>
          </a:bodyPr>
          <a:lstStyle/>
          <a:p>
            <a:pPr algn="l"/>
            <a:r>
              <a:rPr sz="1200" b="1" i="0">
                <a:solidFill>
                  <a:srgbClr val="00275A"/>
                </a:solidFill>
                <a:latin typeface="Calibri"/>
              </a:rPr>
              <a:t>Deployment</a:t>
            </a:r>
          </a:p>
        </p:txBody>
      </p:sp>
      <p:sp>
        <p:nvSpPr>
          <p:cNvPr id="41" name="TextBox 40"/>
          <p:cNvSpPr txBox="1"/>
          <p:nvPr/>
        </p:nvSpPr>
        <p:spPr>
          <a:xfrm>
            <a:off x="6492240" y="5733288"/>
            <a:ext cx="5303520" cy="749808"/>
          </a:xfrm>
          <a:prstGeom prst="rect">
            <a:avLst/>
          </a:prstGeom>
          <a:noFill/>
        </p:spPr>
        <p:txBody>
          <a:bodyPr wrap="square">
            <a:spAutoFit/>
          </a:bodyPr>
          <a:lstStyle/>
          <a:p>
            <a:pPr algn="l"/>
            <a:r>
              <a:rPr sz="1000" b="0" i="0">
                <a:solidFill>
                  <a:srgbClr val="333333"/>
                </a:solidFill>
                <a:latin typeface="Calibri"/>
              </a:rPr>
              <a:t>Single Python file (server.py) + .env config.
Start command: python server.py
No Docker, no Kubernetes, no infrastructure.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88952" cy="164592"/>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10058400" cy="731520"/>
          </a:xfrm>
          <a:prstGeom prst="rect">
            <a:avLst/>
          </a:prstGeom>
          <a:noFill/>
        </p:spPr>
        <p:txBody>
          <a:bodyPr wrap="square">
            <a:spAutoFit/>
          </a:bodyPr>
          <a:lstStyle/>
          <a:p>
            <a:pPr algn="l"/>
            <a:r>
              <a:rPr sz="3800" b="1" i="0">
                <a:solidFill>
                  <a:srgbClr val="FFFFFF"/>
                </a:solidFill>
                <a:latin typeface="Calibri"/>
              </a:rPr>
              <a:t>Next Steps</a:t>
            </a:r>
          </a:p>
        </p:txBody>
      </p:sp>
      <p:sp>
        <p:nvSpPr>
          <p:cNvPr id="5" name="Rectangle 4"/>
          <p:cNvSpPr/>
          <p:nvPr/>
        </p:nvSpPr>
        <p:spPr>
          <a:xfrm>
            <a:off x="365760" y="1554480"/>
            <a:ext cx="5486400" cy="2011680"/>
          </a:xfrm>
          <a:prstGeom prst="rect">
            <a:avLst/>
          </a:prstGeom>
          <a:solidFill>
            <a:srgbClr val="003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502920" cy="201168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48840"/>
            <a:ext cx="365760" cy="731520"/>
          </a:xfrm>
          <a:prstGeom prst="rect">
            <a:avLst/>
          </a:prstGeom>
          <a:noFill/>
        </p:spPr>
        <p:txBody>
          <a:bodyPr wrap="square">
            <a:spAutoFit/>
          </a:bodyPr>
          <a:lstStyle/>
          <a:p>
            <a:pPr algn="ctr"/>
            <a:r>
              <a:rPr sz="2200" b="1" i="0">
                <a:solidFill>
                  <a:srgbClr val="00275A"/>
                </a:solidFill>
                <a:latin typeface="Calibri"/>
              </a:rPr>
              <a:t>01</a:t>
            </a:r>
          </a:p>
        </p:txBody>
      </p:sp>
      <p:sp>
        <p:nvSpPr>
          <p:cNvPr id="8" name="TextBox 7"/>
          <p:cNvSpPr txBox="1"/>
          <p:nvPr/>
        </p:nvSpPr>
        <p:spPr>
          <a:xfrm>
            <a:off x="1024128" y="1645920"/>
            <a:ext cx="4663440" cy="457200"/>
          </a:xfrm>
          <a:prstGeom prst="rect">
            <a:avLst/>
          </a:prstGeom>
          <a:noFill/>
        </p:spPr>
        <p:txBody>
          <a:bodyPr wrap="square">
            <a:spAutoFit/>
          </a:bodyPr>
          <a:lstStyle/>
          <a:p>
            <a:pPr algn="l"/>
            <a:r>
              <a:rPr sz="1300" b="1" i="0">
                <a:solidFill>
                  <a:srgbClr val="FFFFFF"/>
                </a:solidFill>
                <a:latin typeface="Calibri"/>
              </a:rPr>
              <a:t>Security &amp; Compliance Sign-off</a:t>
            </a:r>
          </a:p>
        </p:txBody>
      </p:sp>
      <p:sp>
        <p:nvSpPr>
          <p:cNvPr id="9" name="TextBox 8"/>
          <p:cNvSpPr txBox="1"/>
          <p:nvPr/>
        </p:nvSpPr>
        <p:spPr>
          <a:xfrm>
            <a:off x="1024128" y="2148840"/>
            <a:ext cx="4663440" cy="1280160"/>
          </a:xfrm>
          <a:prstGeom prst="rect">
            <a:avLst/>
          </a:prstGeom>
          <a:noFill/>
        </p:spPr>
        <p:txBody>
          <a:bodyPr wrap="square">
            <a:spAutoFit/>
          </a:bodyPr>
          <a:lstStyle/>
          <a:p>
            <a:pPr algn="l"/>
            <a:r>
              <a:rPr sz="1000" b="0" i="0">
                <a:solidFill>
                  <a:srgbClr val="CCD3DC"/>
                </a:solidFill>
                <a:latin typeface="Calibri"/>
              </a:rPr>
              <a:t>Share this deck with the security team for formal review.
All libraries, endpoints, and data flows are documented here.</a:t>
            </a:r>
          </a:p>
        </p:txBody>
      </p:sp>
      <p:sp>
        <p:nvSpPr>
          <p:cNvPr id="10" name="Rectangle 9"/>
          <p:cNvSpPr/>
          <p:nvPr/>
        </p:nvSpPr>
        <p:spPr>
          <a:xfrm>
            <a:off x="6217920" y="1554480"/>
            <a:ext cx="5486400" cy="2011680"/>
          </a:xfrm>
          <a:prstGeom prst="rect">
            <a:avLst/>
          </a:prstGeom>
          <a:solidFill>
            <a:srgbClr val="003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554480"/>
            <a:ext cx="502920" cy="201168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148840"/>
            <a:ext cx="365760" cy="731520"/>
          </a:xfrm>
          <a:prstGeom prst="rect">
            <a:avLst/>
          </a:prstGeom>
          <a:noFill/>
        </p:spPr>
        <p:txBody>
          <a:bodyPr wrap="square">
            <a:spAutoFit/>
          </a:bodyPr>
          <a:lstStyle/>
          <a:p>
            <a:pPr algn="ctr"/>
            <a:r>
              <a:rPr sz="2200" b="1" i="0">
                <a:solidFill>
                  <a:srgbClr val="00275A"/>
                </a:solidFill>
                <a:latin typeface="Calibri"/>
              </a:rPr>
              <a:t>02</a:t>
            </a:r>
          </a:p>
        </p:txBody>
      </p:sp>
      <p:sp>
        <p:nvSpPr>
          <p:cNvPr id="13" name="TextBox 12"/>
          <p:cNvSpPr txBox="1"/>
          <p:nvPr/>
        </p:nvSpPr>
        <p:spPr>
          <a:xfrm>
            <a:off x="6876288" y="1645920"/>
            <a:ext cx="4663440" cy="457200"/>
          </a:xfrm>
          <a:prstGeom prst="rect">
            <a:avLst/>
          </a:prstGeom>
          <a:noFill/>
        </p:spPr>
        <p:txBody>
          <a:bodyPr wrap="square">
            <a:spAutoFit/>
          </a:bodyPr>
          <a:lstStyle/>
          <a:p>
            <a:pPr algn="l"/>
            <a:r>
              <a:rPr sz="1300" b="1" i="0">
                <a:solidFill>
                  <a:srgbClr val="FFFFFF"/>
                </a:solidFill>
                <a:latin typeface="Calibri"/>
              </a:rPr>
              <a:t>Pilot with a Small Developer Group</a:t>
            </a:r>
          </a:p>
        </p:txBody>
      </p:sp>
      <p:sp>
        <p:nvSpPr>
          <p:cNvPr id="14" name="TextBox 13"/>
          <p:cNvSpPr txBox="1"/>
          <p:nvPr/>
        </p:nvSpPr>
        <p:spPr>
          <a:xfrm>
            <a:off x="6876288" y="2148840"/>
            <a:ext cx="4663440" cy="1280160"/>
          </a:xfrm>
          <a:prstGeom prst="rect">
            <a:avLst/>
          </a:prstGeom>
          <a:noFill/>
        </p:spPr>
        <p:txBody>
          <a:bodyPr wrap="square">
            <a:spAutoFit/>
          </a:bodyPr>
          <a:lstStyle/>
          <a:p>
            <a:pPr algn="l"/>
            <a:r>
              <a:rPr sz="1000" b="0" i="0">
                <a:solidFill>
                  <a:srgbClr val="CCD3DC"/>
                </a:solidFill>
                <a:latin typeface="Calibri"/>
              </a:rPr>
              <a:t>Run a 2-week pilot with 2–3 developers in the MGSL/MSC team.
Collect feedback on accuracy, speed, and usefulness.</a:t>
            </a:r>
          </a:p>
        </p:txBody>
      </p:sp>
      <p:sp>
        <p:nvSpPr>
          <p:cNvPr id="15" name="Rectangle 14"/>
          <p:cNvSpPr/>
          <p:nvPr/>
        </p:nvSpPr>
        <p:spPr>
          <a:xfrm>
            <a:off x="365760" y="3840480"/>
            <a:ext cx="5486400" cy="2011680"/>
          </a:xfrm>
          <a:prstGeom prst="rect">
            <a:avLst/>
          </a:prstGeom>
          <a:solidFill>
            <a:srgbClr val="003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840480"/>
            <a:ext cx="502920" cy="201168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434840"/>
            <a:ext cx="365760" cy="731520"/>
          </a:xfrm>
          <a:prstGeom prst="rect">
            <a:avLst/>
          </a:prstGeom>
          <a:noFill/>
        </p:spPr>
        <p:txBody>
          <a:bodyPr wrap="square">
            <a:spAutoFit/>
          </a:bodyPr>
          <a:lstStyle/>
          <a:p>
            <a:pPr algn="ctr"/>
            <a:r>
              <a:rPr sz="2200" b="1" i="0">
                <a:solidFill>
                  <a:srgbClr val="00275A"/>
                </a:solidFill>
                <a:latin typeface="Calibri"/>
              </a:rPr>
              <a:t>03</a:t>
            </a:r>
          </a:p>
        </p:txBody>
      </p:sp>
      <p:sp>
        <p:nvSpPr>
          <p:cNvPr id="18" name="TextBox 17"/>
          <p:cNvSpPr txBox="1"/>
          <p:nvPr/>
        </p:nvSpPr>
        <p:spPr>
          <a:xfrm>
            <a:off x="1024128" y="3931920"/>
            <a:ext cx="4663440" cy="457200"/>
          </a:xfrm>
          <a:prstGeom prst="rect">
            <a:avLst/>
          </a:prstGeom>
          <a:noFill/>
        </p:spPr>
        <p:txBody>
          <a:bodyPr wrap="square">
            <a:spAutoFit/>
          </a:bodyPr>
          <a:lstStyle/>
          <a:p>
            <a:pPr algn="l"/>
            <a:r>
              <a:rPr sz="1300" b="1" i="0">
                <a:solidFill>
                  <a:srgbClr val="FFFFFF"/>
                </a:solidFill>
                <a:latin typeface="Calibri"/>
              </a:rPr>
              <a:t>Expand Capabilities</a:t>
            </a:r>
          </a:p>
        </p:txBody>
      </p:sp>
      <p:sp>
        <p:nvSpPr>
          <p:cNvPr id="19" name="TextBox 18"/>
          <p:cNvSpPr txBox="1"/>
          <p:nvPr/>
        </p:nvSpPr>
        <p:spPr>
          <a:xfrm>
            <a:off x="1024128" y="4434840"/>
            <a:ext cx="4663440" cy="1280160"/>
          </a:xfrm>
          <a:prstGeom prst="rect">
            <a:avLst/>
          </a:prstGeom>
          <a:noFill/>
        </p:spPr>
        <p:txBody>
          <a:bodyPr wrap="square">
            <a:spAutoFit/>
          </a:bodyPr>
          <a:lstStyle/>
          <a:p>
            <a:pPr algn="l"/>
            <a:r>
              <a:rPr sz="1000" b="0" i="0">
                <a:solidFill>
                  <a:srgbClr val="CCD3DC"/>
                </a:solidFill>
                <a:latin typeface="Calibri"/>
              </a:rPr>
              <a:t>Technical Specification (TS) generation, automated code generation
with human review gate, multi-system search.</a:t>
            </a:r>
          </a:p>
        </p:txBody>
      </p:sp>
      <p:sp>
        <p:nvSpPr>
          <p:cNvPr id="20" name="Rectangle 19"/>
          <p:cNvSpPr/>
          <p:nvPr/>
        </p:nvSpPr>
        <p:spPr>
          <a:xfrm>
            <a:off x="6217920" y="3840480"/>
            <a:ext cx="5486400" cy="2011680"/>
          </a:xfrm>
          <a:prstGeom prst="rect">
            <a:avLst/>
          </a:prstGeom>
          <a:solidFill>
            <a:srgbClr val="003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840480"/>
            <a:ext cx="502920" cy="2011680"/>
          </a:xfrm>
          <a:prstGeom prst="rect">
            <a:avLst/>
          </a:prstGeom>
          <a:solidFill>
            <a:srgbClr val="FBB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4434840"/>
            <a:ext cx="365760" cy="731520"/>
          </a:xfrm>
          <a:prstGeom prst="rect">
            <a:avLst/>
          </a:prstGeom>
          <a:noFill/>
        </p:spPr>
        <p:txBody>
          <a:bodyPr wrap="square">
            <a:spAutoFit/>
          </a:bodyPr>
          <a:lstStyle/>
          <a:p>
            <a:pPr algn="ctr"/>
            <a:r>
              <a:rPr sz="2200" b="1" i="0">
                <a:solidFill>
                  <a:srgbClr val="00275A"/>
                </a:solidFill>
                <a:latin typeface="Calibri"/>
              </a:rPr>
              <a:t>04</a:t>
            </a:r>
          </a:p>
        </p:txBody>
      </p:sp>
      <p:sp>
        <p:nvSpPr>
          <p:cNvPr id="23" name="TextBox 22"/>
          <p:cNvSpPr txBox="1"/>
          <p:nvPr/>
        </p:nvSpPr>
        <p:spPr>
          <a:xfrm>
            <a:off x="6876288" y="3931920"/>
            <a:ext cx="4663440" cy="457200"/>
          </a:xfrm>
          <a:prstGeom prst="rect">
            <a:avLst/>
          </a:prstGeom>
          <a:noFill/>
        </p:spPr>
        <p:txBody>
          <a:bodyPr wrap="square">
            <a:spAutoFit/>
          </a:bodyPr>
          <a:lstStyle/>
          <a:p>
            <a:pPr algn="l"/>
            <a:r>
              <a:rPr sz="1300" b="1" i="0">
                <a:solidFill>
                  <a:srgbClr val="FFFFFF"/>
                </a:solidFill>
                <a:latin typeface="Calibri"/>
              </a:rPr>
              <a:t>Team Rollout</a:t>
            </a:r>
          </a:p>
        </p:txBody>
      </p:sp>
      <p:sp>
        <p:nvSpPr>
          <p:cNvPr id="24" name="TextBox 23"/>
          <p:cNvSpPr txBox="1"/>
          <p:nvPr/>
        </p:nvSpPr>
        <p:spPr>
          <a:xfrm>
            <a:off x="6876288" y="4434840"/>
            <a:ext cx="4663440" cy="1280160"/>
          </a:xfrm>
          <a:prstGeom prst="rect">
            <a:avLst/>
          </a:prstGeom>
          <a:noFill/>
        </p:spPr>
        <p:txBody>
          <a:bodyPr wrap="square">
            <a:spAutoFit/>
          </a:bodyPr>
          <a:lstStyle/>
          <a:p>
            <a:pPr algn="l"/>
            <a:r>
              <a:rPr sz="1000" b="0" i="0">
                <a:solidFill>
                  <a:srgbClr val="CCD3DC"/>
                </a:solidFill>
                <a:latin typeface="Calibri"/>
              </a:rPr>
              <a:t>Deploy to all ABAP developers on their laptops.
One-time setup: install Python + 7 packages + .env config.</a:t>
            </a:r>
          </a:p>
        </p:txBody>
      </p:sp>
      <p:sp>
        <p:nvSpPr>
          <p:cNvPr id="25" name="TextBox 24"/>
          <p:cNvSpPr txBox="1"/>
          <p:nvPr/>
        </p:nvSpPr>
        <p:spPr>
          <a:xfrm>
            <a:off x="0" y="6355080"/>
            <a:ext cx="12188952" cy="438912"/>
          </a:xfrm>
          <a:prstGeom prst="rect">
            <a:avLst/>
          </a:prstGeom>
          <a:noFill/>
        </p:spPr>
        <p:txBody>
          <a:bodyPr wrap="square">
            <a:spAutoFit/>
          </a:bodyPr>
          <a:lstStyle/>
          <a:p>
            <a:pPr algn="ctr"/>
            <a:r>
              <a:rPr sz="1500" b="0" i="1">
                <a:solidFill>
                  <a:srgbClr val="CCD3DC"/>
                </a:solidFill>
                <a:latin typeface="Calibri"/>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